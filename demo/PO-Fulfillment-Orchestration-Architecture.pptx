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PURCHASE-ORDER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Order Assistant AI that transforms every incoming purchase order — from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intake through to shipment — into a fast, accurate and self-validating workflow, powered by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agents, with human judgement applied only where it truly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business impact.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purchase order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The business receives a high volume of purchase orders from its customers as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email, PDF, Excel and scanned documents.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The catalog is continually refreshed and older SKUs are superseded. CSRs must catch obsolete items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different units — each, kits and cases.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Customer-specific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customer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order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data model, 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DATA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Data model — entities &amp; relationships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B8B8C6"/>
                </a:solidFill>
                <a:latin typeface="Segoe UI"/>
              </a:rPr>
              <a:t>The order aggregate sits at the centre; every decision is driven by governed master-data entities linked to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468880"/>
            <a:ext cx="3063240" cy="105156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905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2468880"/>
            <a:ext cx="3063240" cy="274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505456"/>
            <a:ext cx="2807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4141E"/>
                </a:solidFill>
                <a:latin typeface="Segoe UI"/>
              </a:rPr>
              <a:t>PURCHASE ORDER  (header)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798064"/>
            <a:ext cx="28072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FFFFFF"/>
                </a:solidFill>
                <a:latin typeface="Segoe UI"/>
              </a:rPr>
              <a:t>PK  po_no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B8B8C6"/>
                </a:solidFill>
                <a:latin typeface="Segoe UI"/>
              </a:rPr>
              <a:t>FK  customer_id · buyer_id · ship_to_id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B8B8C6"/>
                </a:solidFill>
                <a:latin typeface="Segoe UI"/>
              </a:rPr>
              <a:t>order_date · channel · status · totals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794760"/>
            <a:ext cx="3063240" cy="960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905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3794760"/>
            <a:ext cx="3063240" cy="274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3831336"/>
            <a:ext cx="2807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14141E"/>
                </a:solidFill>
                <a:latin typeface="Segoe UI"/>
              </a:rPr>
              <a:t>ORDER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4123944"/>
            <a:ext cx="280720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FFFFFF"/>
                </a:solidFill>
                <a:latin typeface="Segoe UI"/>
              </a:rPr>
              <a:t>PK  po_no + line_no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 i="0">
                <a:solidFill>
                  <a:srgbClr val="B8B8C6"/>
                </a:solidFill>
                <a:latin typeface="Segoe UI"/>
              </a:rPr>
              <a:t>FK  sku · uom · qty · unit_price · line_total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03620" y="352044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95059" y="352958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1 : 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82880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828800"/>
            <a:ext cx="2743200" cy="23774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1856231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CUSTOMER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121408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account tier · hierarchy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ship-to · fulfillment rules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91840" y="2286000"/>
            <a:ext cx="1280160" cy="640080"/>
          </a:xfrm>
          <a:prstGeom prst="line">
            <a:avLst/>
          </a:prstGeom>
          <a:ln w="1397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294436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944368"/>
            <a:ext cx="2743200" cy="23774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971800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BUYER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236976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buyer_id  FK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role · permissions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authority · self-approval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3291840" y="2926080"/>
            <a:ext cx="1280160" cy="475488"/>
          </a:xfrm>
          <a:prstGeom prst="line">
            <a:avLst/>
          </a:prstGeom>
          <a:ln w="1397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4059936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059936"/>
            <a:ext cx="2743200" cy="23774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087368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CREDIT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352544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credit limit · available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payment terms · risk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3291840" y="4206240"/>
            <a:ext cx="1280160" cy="310896"/>
          </a:xfrm>
          <a:prstGeom prst="line">
            <a:avLst/>
          </a:prstGeom>
          <a:ln w="13970">
            <a:solidFill>
              <a:srgbClr val="33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48640" y="5175504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175504"/>
            <a:ext cx="2743200" cy="237744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202936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BUDGET &amp;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468112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cost_centre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budget · approval matrix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buyer authority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3291840" y="4206240"/>
            <a:ext cx="1280160" cy="1426464"/>
          </a:xfrm>
          <a:prstGeom prst="line">
            <a:avLst/>
          </a:prstGeom>
          <a:ln w="13970">
            <a:solidFill>
              <a:srgbClr val="A97B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915400" y="182880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15400" y="1828800"/>
            <a:ext cx="2743200" cy="23774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5128" y="1856231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PRODUCT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5128" y="2121408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PK sku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lifecycle · substitute_sku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uom · conversions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7635240" y="2286000"/>
            <a:ext cx="1280160" cy="640080"/>
          </a:xfrm>
          <a:prstGeom prst="line">
            <a:avLst/>
          </a:prstGeom>
          <a:ln w="13970">
            <a:solidFill>
              <a:srgbClr val="35C7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915400" y="2944368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15400" y="2944368"/>
            <a:ext cx="2743200" cy="23774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5128" y="2971800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PRICING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25128" y="3236976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FK sku · customer_id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list · contract · tier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promo · rebate</a:t>
            </a:r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7635240" y="2926080"/>
            <a:ext cx="1280160" cy="475488"/>
          </a:xfrm>
          <a:prstGeom prst="line">
            <a:avLst/>
          </a:prstGeom>
          <a:ln w="13970">
            <a:solidFill>
              <a:srgbClr val="35C7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915400" y="4059936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15400" y="4059936"/>
            <a:ext cx="2743200" cy="23774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5128" y="4087368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INVENTORY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25128" y="4352544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FK sku · dc_id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on-hand · in-transit · ATP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allocation</a:t>
            </a:r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7635240" y="4206240"/>
            <a:ext cx="1280160" cy="310896"/>
          </a:xfrm>
          <a:prstGeom prst="line">
            <a:avLst/>
          </a:prstGeom>
          <a:ln w="1397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8915400" y="5175504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15400" y="5175504"/>
            <a:ext cx="2743200" cy="23774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25128" y="5202936"/>
            <a:ext cx="2523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LOGISTICS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25128" y="5468112"/>
            <a:ext cx="252374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FK ship_to_id · carrier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serviceability · freight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delivery SLA · ETA</a:t>
            </a:r>
          </a:p>
        </p:txBody>
      </p:sp>
      <p:cxnSp>
        <p:nvCxnSpPr>
          <p:cNvPr id="59" name="Connector 58"/>
          <p:cNvCxnSpPr/>
          <p:nvPr/>
        </p:nvCxnSpPr>
        <p:spPr>
          <a:xfrm flipH="1" flipV="1">
            <a:off x="7635240" y="4206240"/>
            <a:ext cx="1280160" cy="1426464"/>
          </a:xfrm>
          <a:prstGeom prst="line">
            <a:avLst/>
          </a:prstGeom>
          <a:ln w="1397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4069080" y="5806440"/>
            <a:ext cx="4069080" cy="5029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06240" y="5888736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1" i="0">
                <a:solidFill>
                  <a:srgbClr val="FF5A5A"/>
                </a:solidFill>
                <a:latin typeface="Segoe UI"/>
              </a:rPr>
              <a:t>EXCEPTION GOVERNANCE</a:t>
            </a:r>
            <a:r>
              <a:rPr sz="850" b="0" i="0">
                <a:solidFill>
                  <a:srgbClr val="B8B8C6"/>
                </a:solidFill>
                <a:latin typeface="Segoe UI"/>
              </a:rPr>
              <a:t>   exception_type → owner · escalation · SLA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103620" y="4754880"/>
            <a:ext cx="0" cy="1051560"/>
          </a:xfrm>
          <a:prstGeom prst="line">
            <a:avLst/>
          </a:prstGeom>
          <a:ln w="13970">
            <a:solidFill>
              <a:srgbClr val="FF5A5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48640" y="64190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PK = primary key   ·   FK = foreign key   ·   1 : ∞ = one-to-many.  Master data is governed centrally and referenced by every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resumable, pause-and-resume workflow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PLATFORM CAPABILITIES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Governed master data drives every decision; the platform integrates with enterprise ERP / MDM, identity and cloud 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CUSTOMER INTERACTION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80944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&amp; Console  (intake · live agent panels · one-click decisions · audit)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(resumable, pause-and-resume workflow)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 —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36192"/>
            <a:ext cx="685800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367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PO 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PDF 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4296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Excel 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52744" y="1609344"/>
            <a:ext cx="1188720" cy="31089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Scanned PO</a:t>
            </a:r>
          </a:p>
        </p:txBody>
      </p:sp>
      <p:sp>
        <p:nvSpPr>
          <p:cNvPr id="15" name="Process 14"/>
          <p:cNvSpPr/>
          <p:nvPr/>
        </p:nvSpPr>
        <p:spPr>
          <a:xfrm>
            <a:off x="1554480" y="22128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— digitise &amp; extract PO</a:t>
            </a:r>
          </a:p>
        </p:txBody>
      </p:sp>
      <p:sp>
        <p:nvSpPr>
          <p:cNvPr id="16" name="Process 15"/>
          <p:cNvSpPr/>
          <p:nvPr/>
        </p:nvSpPr>
        <p:spPr>
          <a:xfrm>
            <a:off x="1554480" y="27249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Reconcile every line vs master data</a:t>
            </a:r>
          </a:p>
        </p:txBody>
      </p:sp>
      <p:sp>
        <p:nvSpPr>
          <p:cNvPr id="17" name="Decision 16"/>
          <p:cNvSpPr/>
          <p:nvPr/>
        </p:nvSpPr>
        <p:spPr>
          <a:xfrm>
            <a:off x="1554480" y="32369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issues?  (obsolete SKU · qty · UOM · buyer)</a:t>
            </a:r>
          </a:p>
        </p:txBody>
      </p:sp>
      <p:sp>
        <p:nvSpPr>
          <p:cNvPr id="18" name="Process 17"/>
          <p:cNvSpPr/>
          <p:nvPr/>
        </p:nvSpPr>
        <p:spPr>
          <a:xfrm>
            <a:off x="1554480" y="4041648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Validate customer, buyer &amp; product match</a:t>
            </a:r>
          </a:p>
        </p:txBody>
      </p:sp>
      <p:sp>
        <p:nvSpPr>
          <p:cNvPr id="19" name="Process 18"/>
          <p:cNvSpPr/>
          <p:nvPr/>
        </p:nvSpPr>
        <p:spPr>
          <a:xfrm>
            <a:off x="1554480" y="4553712"/>
            <a:ext cx="3657600" cy="402336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Price · credit · inventory · logistics checks</a:t>
            </a:r>
          </a:p>
        </p:txBody>
      </p:sp>
      <p:sp>
        <p:nvSpPr>
          <p:cNvPr id="20" name="Decision 19"/>
          <p:cNvSpPr/>
          <p:nvPr/>
        </p:nvSpPr>
        <p:spPr>
          <a:xfrm>
            <a:off x="1554480" y="5065776"/>
            <a:ext cx="3657600" cy="676656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Policy / approval exception?  (margin · credit · budget)</a:t>
            </a:r>
          </a:p>
        </p:txBody>
      </p:sp>
      <p:sp>
        <p:nvSpPr>
          <p:cNvPr id="21" name="Terminator 20"/>
          <p:cNvSpPr/>
          <p:nvPr/>
        </p:nvSpPr>
        <p:spPr>
          <a:xfrm>
            <a:off x="1554480" y="5870448"/>
            <a:ext cx="3657600" cy="420624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4141E"/>
                </a:solidFill>
                <a:latin typeface="Segoe UI"/>
              </a:rPr>
              <a:t>Sales order created  ·  notify  ·  audit trail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2494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HUMAN-IN-THE-LOOP  ·  CSR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5420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B8B8C6"/>
                </a:solidFill>
                <a:latin typeface="Segoe UI"/>
              </a:rPr>
              <a:t>Blue = intake resolution    Amber = approval    Red = stop</a:t>
            </a:r>
          </a:p>
        </p:txBody>
      </p:sp>
      <p:sp>
        <p:nvSpPr>
          <p:cNvPr id="24" name="Process 23"/>
          <p:cNvSpPr/>
          <p:nvPr/>
        </p:nvSpPr>
        <p:spPr>
          <a:xfrm>
            <a:off x="7680960" y="32369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the gate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 pick</a:t>
            </a:r>
          </a:p>
        </p:txBody>
      </p:sp>
      <p:sp>
        <p:nvSpPr>
          <p:cNvPr id="25" name="Process 24"/>
          <p:cNvSpPr/>
          <p:nvPr/>
        </p:nvSpPr>
        <p:spPr>
          <a:xfrm>
            <a:off x="7680960" y="5065776"/>
            <a:ext cx="3931920" cy="676656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Escalate</a:t>
            </a:r>
          </a:p>
        </p:txBody>
      </p:sp>
      <p:sp>
        <p:nvSpPr>
          <p:cNvPr id="26" name="Terminator 25"/>
          <p:cNvSpPr/>
          <p:nvPr/>
        </p:nvSpPr>
        <p:spPr>
          <a:xfrm>
            <a:off x="7680960" y="5870448"/>
            <a:ext cx="3931920" cy="420624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 stopped / routed to responsible team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227832" y="1993392"/>
            <a:ext cx="310896" cy="18288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383280" y="26151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383280" y="31272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383280" y="39136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474720" y="39227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83280" y="4443984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383280" y="4956048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383280" y="5742432"/>
            <a:ext cx="0" cy="128016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474720" y="57515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12080" y="3575304"/>
            <a:ext cx="246888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285232" y="33467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6035040" y="3794760"/>
            <a:ext cx="164592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35040" y="3794760"/>
            <a:ext cx="0" cy="448056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5212080" y="4242816"/>
            <a:ext cx="82296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40680" y="3602736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212080" y="5404104"/>
            <a:ext cx="246888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285232" y="5175504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6035040" y="5623560"/>
            <a:ext cx="164592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35040" y="5623560"/>
            <a:ext cx="0" cy="45720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212080" y="6080760"/>
            <a:ext cx="82296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40680" y="6089904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646920" y="5742432"/>
            <a:ext cx="0" cy="128016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738360" y="5742432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sourced from the enterprise systems of record.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Catalog item A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Catalog item B 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Catalog item C  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SCENARIO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orchestration platform for PO-to-fulfillment.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Faster orders, protected margins and governed decisions — with human judgement where it matters.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