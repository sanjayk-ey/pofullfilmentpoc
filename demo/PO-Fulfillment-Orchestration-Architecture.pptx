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E600"/>
                </a:solidFill>
                <a:latin typeface="Segoe UI"/>
              </a:rPr>
              <a:t>ORDER ASSISTANT AI  ·  FOR PURCHASE-ORDER 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Autonomous Purchase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to Fulfillment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931920"/>
            <a:ext cx="2743200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8B8C6"/>
                </a:solidFill>
                <a:latin typeface="Segoe UI"/>
              </a:rPr>
              <a:t>An intelligent Order Assistant AI that transforms every incoming purchase order — from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8B8C6"/>
                </a:solidFill>
                <a:latin typeface="Segoe UI"/>
              </a:rPr>
              <a:t>intake through to shipment — into a fast, accurate and self-validating workflow, powered by a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8B8C6"/>
                </a:solidFill>
                <a:latin typeface="Segoe UI"/>
              </a:rPr>
              <a:t>team of specialised AI agents, with human judgement applied only where it truly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8A8A99"/>
                </a:solidFill>
                <a:latin typeface="Segoe UI"/>
              </a:rPr>
              <a:t>Business case  ·  Solution architecture  ·  The AI tool we built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51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E600"/>
                </a:solidFill>
                <a:latin typeface="Segoe UI"/>
              </a:rPr>
              <a:t>SECTION 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Business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4160520"/>
            <a:ext cx="2743200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4340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B8B8C6"/>
                </a:solidFill>
                <a:latin typeface="Segoe UI"/>
              </a:rPr>
              <a:t>The business need and problem, the solution approach, and the business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BUSINESS NEED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From purchase order to shipment — the manual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91440" cy="9144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64792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The business receives a high volume of purchase orders from its customers as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email, PDF, Excel and scanned documents. Every order must be validated, priced, sourced and approved before it can ship — today that work lands on customer-service reps, order by order, line by 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82296" cy="137160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9535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Constant product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355848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The catalog is continually refreshed and older SKUs are superseded. CSRs must catch obsolete items and find the approved replacement on every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889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82296" cy="137160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9535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Mixed units of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355848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Items sell in different units — each, kits and cases. Ordered quantities must be converted correctly or shipments and invoices go wrong.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82296" cy="137160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5079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Contract &amp; margin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910328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Customer-specific contract pricing, promos and rebates — plus family-level discount / margin policies that must not be breached.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343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343400"/>
            <a:ext cx="82296" cy="1371600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5079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Account, credit &amp;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4910328"/>
            <a:ext cx="4892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Validating the customer account, the ordering buyer, credit limits and spend approvals — by hand, across multiple systems.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98932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12700">
            <a:solidFill>
              <a:srgbClr val="FF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6247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5A5A"/>
                </a:solidFill>
                <a:latin typeface="Segoe UI"/>
              </a:rPr>
              <a:t>Impact of the status quo:  </a:t>
            </a:r>
            <a:r>
              <a:rPr sz="1200" b="0" i="0">
                <a:solidFill>
                  <a:srgbClr val="B8B8C6"/>
                </a:solidFill>
                <a:latin typeface="Segoe UI"/>
              </a:rPr>
              <a:t>slow order turnaround, wrong-SKU shipments and returns, margin leakage, CSRs buried in lookups.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BUSINESS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An Order Assistant AI with human-in-the-loop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B8B8C6"/>
                </a:solidFill>
                <a:latin typeface="Segoe UI"/>
              </a:rPr>
              <a:t>An orchestration engine runs a pipeline of specialist AI agents. Each agent makes master-data-driven decisions automatically and only pauses for a human when a decision is ambiguous or breaches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2670048" cy="109728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2807208"/>
            <a:ext cx="502920" cy="502920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20439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Straight-through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1671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Clean orders are validated, priced, sourced, planned and created with zero human touch.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4231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423160"/>
            <a:ext cx="2670048" cy="1097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0168" y="2807208"/>
            <a:ext cx="502920" cy="50292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3520439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206240"/>
            <a:ext cx="21671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Risky or ambiguous decisions pause the pipeline and hand off to a CSR, then resume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24231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2423160"/>
            <a:ext cx="2670048" cy="1097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2807208"/>
            <a:ext cx="502920" cy="5029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3520439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Master-data 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4206240"/>
            <a:ext cx="21671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Decisions come from governed master data — not hard-coded rules — so behaviour is transparent and tunable.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399" y="2423160"/>
            <a:ext cx="2670048" cy="33832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399" y="2423160"/>
            <a:ext cx="2670048" cy="10972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08007" y="2807208"/>
            <a:ext cx="502920" cy="502920"/>
          </a:xfrm>
          <a:prstGeom prst="ellipse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520439"/>
            <a:ext cx="21671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Fully auditable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206240"/>
            <a:ext cx="21671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Every automated and human decision is captured with its rationale for governance and traceability.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How the Order Assistant AI improves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486400" cy="3154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0" cy="109728"/>
          </a:xfrm>
          <a:prstGeom prst="rect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5A5A"/>
                </a:solidFill>
                <a:latin typeface="Segoe UI"/>
              </a:rPr>
              <a:t>TODAY  —  MANUAL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377439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331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Minutes of multi-system lookups per line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852927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8072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Obsolete SKUs slip through → returns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328415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28269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Inconsistent discounting → margin leak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803903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758183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Hard to scale at peak season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2336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Limited audit of who decided what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1691640"/>
            <a:ext cx="5486400" cy="3154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1691640"/>
            <a:ext cx="5486400" cy="109728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189280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5C759"/>
                </a:solidFill>
                <a:latin typeface="Segoe UI"/>
              </a:rPr>
              <a:t>WITH ORDER ASSISTANT AI</a:t>
            </a:r>
          </a:p>
        </p:txBody>
      </p:sp>
      <p:sp>
        <p:nvSpPr>
          <p:cNvPr id="25" name="Oval 24"/>
          <p:cNvSpPr/>
          <p:nvPr/>
        </p:nvSpPr>
        <p:spPr>
          <a:xfrm>
            <a:off x="6473952" y="2377439"/>
            <a:ext cx="128016" cy="128016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331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Clean orders auto-processed end-to-end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2852927"/>
            <a:ext cx="128016" cy="128016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8072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Obsolete SKUs auto-flagged with approved substitute</a:t>
            </a:r>
          </a:p>
        </p:txBody>
      </p:sp>
      <p:sp>
        <p:nvSpPr>
          <p:cNvPr id="29" name="Oval 28"/>
          <p:cNvSpPr/>
          <p:nvPr/>
        </p:nvSpPr>
        <p:spPr>
          <a:xfrm>
            <a:off x="6473952" y="3328415"/>
            <a:ext cx="128016" cy="128016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28269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Margin policy enforced on every line</a:t>
            </a:r>
          </a:p>
        </p:txBody>
      </p:sp>
      <p:sp>
        <p:nvSpPr>
          <p:cNvPr id="31" name="Oval 30"/>
          <p:cNvSpPr/>
          <p:nvPr/>
        </p:nvSpPr>
        <p:spPr>
          <a:xfrm>
            <a:off x="6473952" y="3803903"/>
            <a:ext cx="128016" cy="128016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58183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Scales elastically with order volume</a:t>
            </a:r>
          </a:p>
        </p:txBody>
      </p:sp>
      <p:sp>
        <p:nvSpPr>
          <p:cNvPr id="33" name="Oval 32"/>
          <p:cNvSpPr/>
          <p:nvPr/>
        </p:nvSpPr>
        <p:spPr>
          <a:xfrm>
            <a:off x="6473952" y="4279392"/>
            <a:ext cx="128016" cy="128016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2336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Every decision captured for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Business outcomes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3212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Faster order turnaround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532120"/>
            <a:ext cx="2148840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07208" y="553212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Fewer returns &amp; wrong shipments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07208" y="5532120"/>
            <a:ext cx="2148840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65776" y="553212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Protected margins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65776" y="5532120"/>
            <a:ext cx="2148840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24344" y="553212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Higher CSR productivity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24344" y="5532120"/>
            <a:ext cx="2148840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82912" y="553212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Consistent, governed decisions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82912" y="5532120"/>
            <a:ext cx="2148840" cy="7315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51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E600"/>
                </a:solidFill>
                <a:latin typeface="Segoe UI"/>
              </a:rPr>
              <a:t>SECTION SOLUTION ARCHITECTURE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Solution architecture &amp;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4160520"/>
            <a:ext cx="2743200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4340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B8B8C6"/>
                </a:solidFill>
                <a:latin typeface="Segoe UI"/>
              </a:rPr>
              <a:t>The data model, the reference architecture, the runtime component &amp; data-flow view, the process flow, and the request sequence.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Data model — entities &amp;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B8B8C6"/>
                </a:solidFill>
                <a:latin typeface="Segoe UI"/>
              </a:rPr>
              <a:t>The order aggregate sits at the centre; every decision is driven by governed master-data entities linked to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063240" cy="105156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905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468880"/>
            <a:ext cx="3063240" cy="274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505456"/>
            <a:ext cx="2807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141E"/>
                </a:solidFill>
                <a:latin typeface="Segoe UI"/>
              </a:rPr>
              <a:t>PURCHASE ORDER  (header)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798064"/>
            <a:ext cx="28072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FFFFFF"/>
                </a:solidFill>
                <a:latin typeface="Segoe UI"/>
              </a:rPr>
              <a:t>PK  po_no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B8B8C6"/>
                </a:solidFill>
                <a:latin typeface="Segoe UI"/>
              </a:rPr>
              <a:t>FK  customer_id · buyer_id · ship_to_id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B8B8C6"/>
                </a:solidFill>
                <a:latin typeface="Segoe UI"/>
              </a:rPr>
              <a:t>order_date · channel · status · totals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794760"/>
            <a:ext cx="3063240" cy="9601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905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3794760"/>
            <a:ext cx="3063240" cy="274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3831336"/>
            <a:ext cx="28072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141E"/>
                </a:solidFill>
                <a:latin typeface="Segoe UI"/>
              </a:rPr>
              <a:t>ORDER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4123944"/>
            <a:ext cx="280720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FFFFFF"/>
                </a:solidFill>
                <a:latin typeface="Segoe UI"/>
              </a:rPr>
              <a:t>PK  po_no + line_no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i="0">
                <a:solidFill>
                  <a:srgbClr val="B8B8C6"/>
                </a:solidFill>
                <a:latin typeface="Segoe UI"/>
              </a:rPr>
              <a:t>FK  sku · uom · qty · unit_price · line_total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3620" y="3520440"/>
            <a:ext cx="0" cy="274320"/>
          </a:xfrm>
          <a:prstGeom prst="line">
            <a:avLst/>
          </a:prstGeom>
          <a:ln w="19050">
            <a:solidFill>
              <a:srgbClr val="FFE6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95059" y="352958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1 : 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8288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1828800"/>
            <a:ext cx="2743200" cy="237744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856231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121408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PK customer_id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account tier · hierarchy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ship-to · fulfillment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91840" y="2286000"/>
            <a:ext cx="1280160" cy="640080"/>
          </a:xfrm>
          <a:prstGeom prst="line">
            <a:avLst/>
          </a:prstGeom>
          <a:ln w="13970">
            <a:solidFill>
              <a:srgbClr val="4A9E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944368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944368"/>
            <a:ext cx="2743200" cy="237744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971800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BUYER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236976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PK buyer_id  FK customer_id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role · permissions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authority · self-approval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291840" y="2926080"/>
            <a:ext cx="1280160" cy="475488"/>
          </a:xfrm>
          <a:prstGeom prst="line">
            <a:avLst/>
          </a:prstGeom>
          <a:ln w="13970">
            <a:solidFill>
              <a:srgbClr val="4A9E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4059936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3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059936"/>
            <a:ext cx="2743200" cy="237744"/>
          </a:xfrm>
          <a:prstGeom prst="rect">
            <a:avLst/>
          </a:prstGeom>
          <a:solidFill>
            <a:srgbClr val="33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087368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CREDIT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352544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PK customer_id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credit limit · available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payment terms · risk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291840" y="4206240"/>
            <a:ext cx="1280160" cy="310896"/>
          </a:xfrm>
          <a:prstGeom prst="line">
            <a:avLst/>
          </a:prstGeom>
          <a:ln w="13970">
            <a:solidFill>
              <a:srgbClr val="33C9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8640" y="5175504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175504"/>
            <a:ext cx="2743200" cy="237744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202936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BUDGET &amp;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468112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PK cost_centre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budget · approval matrix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buyer authority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3291840" y="4206240"/>
            <a:ext cx="1280160" cy="1426464"/>
          </a:xfrm>
          <a:prstGeom prst="line">
            <a:avLst/>
          </a:prstGeom>
          <a:ln w="13970">
            <a:solidFill>
              <a:srgbClr val="A97B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915400" y="18288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15400" y="1828800"/>
            <a:ext cx="2743200" cy="237744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5128" y="1856231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2121408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PK sku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lifecycle · substitute_sku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uom · conversions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635240" y="2286000"/>
            <a:ext cx="1280160" cy="640080"/>
          </a:xfrm>
          <a:prstGeom prst="line">
            <a:avLst/>
          </a:prstGeom>
          <a:ln w="13970">
            <a:solidFill>
              <a:srgbClr val="35C7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915400" y="2944368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15400" y="2944368"/>
            <a:ext cx="2743200" cy="237744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5128" y="2971800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PRICING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25128" y="3236976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FK sku · customer_id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list · contract · tier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promo · rebate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7635240" y="2926080"/>
            <a:ext cx="1280160" cy="475488"/>
          </a:xfrm>
          <a:prstGeom prst="line">
            <a:avLst/>
          </a:prstGeom>
          <a:ln w="13970">
            <a:solidFill>
              <a:srgbClr val="35C7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915400" y="4059936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15400" y="4059936"/>
            <a:ext cx="2743200" cy="23774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5128" y="4087368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INVENTORY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25128" y="4352544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FK sku · dc_id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on-hand · in-transit · ATP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allocation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7635240" y="4206240"/>
            <a:ext cx="1280160" cy="310896"/>
          </a:xfrm>
          <a:prstGeom prst="line">
            <a:avLst/>
          </a:prstGeom>
          <a:ln w="13970">
            <a:solidFill>
              <a:srgbClr val="FFB0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915400" y="5175504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15400" y="5175504"/>
            <a:ext cx="2743200" cy="23774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25128" y="5202936"/>
            <a:ext cx="2523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LOGISTICS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5128" y="5468112"/>
            <a:ext cx="2523744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FK ship_to_id · carrier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serviceability · freight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B8B8C6"/>
                </a:solidFill>
                <a:latin typeface="Segoe UI"/>
              </a:rPr>
              <a:t>delivery SLA · ETA</a:t>
            </a:r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7635240" y="4206240"/>
            <a:ext cx="1280160" cy="1426464"/>
          </a:xfrm>
          <a:prstGeom prst="line">
            <a:avLst/>
          </a:prstGeom>
          <a:ln w="13970">
            <a:solidFill>
              <a:srgbClr val="FFB0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069080" y="5806440"/>
            <a:ext cx="4069080" cy="5029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FF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5888736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FF5A5A"/>
                </a:solidFill>
                <a:latin typeface="Segoe UI"/>
              </a:rPr>
              <a:t>EXCEPTION GOVERNANCE</a:t>
            </a:r>
            <a:r>
              <a:rPr sz="850" b="0" i="0">
                <a:solidFill>
                  <a:srgbClr val="B8B8C6"/>
                </a:solidFill>
                <a:latin typeface="Segoe UI"/>
              </a:rPr>
              <a:t>   exception_type → owner · escalation · SLA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103620" y="4754880"/>
            <a:ext cx="0" cy="1051560"/>
          </a:xfrm>
          <a:prstGeom prst="line">
            <a:avLst/>
          </a:prstGeom>
          <a:ln w="13970">
            <a:solidFill>
              <a:srgbClr val="FF5A5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8A8A99"/>
                </a:solidFill>
                <a:latin typeface="Segoe UI"/>
              </a:rPr>
              <a:t>PK = primary key   ·   FK = foreign key   ·   1 : ∞ = one-to-many.  Master data is governed centrally and referenced by every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Solution architecture — layered reference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536192" cy="54864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INTERACTION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73152" cy="5486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12848" y="1691640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Email 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8224" y="1691640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PDF 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91640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Excel 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1691640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Scanned 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50008"/>
            <a:ext cx="1536192" cy="566928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EXPERIENCE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50008"/>
            <a:ext cx="73152" cy="566928"/>
          </a:xfrm>
          <a:prstGeom prst="rect">
            <a:avLst/>
          </a:prstGeom>
          <a:solidFill>
            <a:srgbClr val="33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12848" y="2350008"/>
            <a:ext cx="7333488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CSR Workspace &amp; Console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PO intake  ·  live agent panels  ·  one-click decisions  ·  audit viewer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26664"/>
            <a:ext cx="1536192" cy="1060704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AI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26664"/>
            <a:ext cx="73152" cy="10607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12848" y="3026664"/>
            <a:ext cx="7333488" cy="1060704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3081528"/>
            <a:ext cx="7059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E600"/>
                </a:solidFill>
                <a:latin typeface="Segoe UI"/>
              </a:rPr>
              <a:t>Orchestrator  —  resumable pipeline / state machine  (pause on exception · resume on decision)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0008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Intake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2488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4967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Product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27448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Pricing &amp;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Promo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19928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Credit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12407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Inventory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4888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Shipments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97368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Approvals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9847" y="3401568"/>
            <a:ext cx="719328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Order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Execution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97096"/>
            <a:ext cx="1536192" cy="566928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DOMAIN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97096"/>
            <a:ext cx="73152" cy="566928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12848" y="4197096"/>
            <a:ext cx="1115568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Pricing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4197096"/>
            <a:ext cx="1115568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Credit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0016" y="4197096"/>
            <a:ext cx="1115568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Inventory / ATP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197096"/>
            <a:ext cx="1115568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Logistics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87183" y="4197096"/>
            <a:ext cx="1115568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Compliance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30767" y="4197096"/>
            <a:ext cx="1115568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Budget / approval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873752"/>
            <a:ext cx="1536192" cy="932688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DATA &amp;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873752"/>
            <a:ext cx="73152" cy="932688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212848" y="4873752"/>
            <a:ext cx="4709160" cy="93268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22576" y="491947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MASTER-DATA FOUNDATION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22576" y="5148072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Customer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58718" y="5148072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Buyer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94860" y="5148072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Product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31002" y="5148072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Pricing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22576" y="5458968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Credit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58718" y="5458968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Inventory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94860" y="5458968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Logistics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31002" y="5458968"/>
            <a:ext cx="1081278" cy="27432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Budget/Comp.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77456" y="4873752"/>
            <a:ext cx="2468879" cy="93268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87184" y="4919472"/>
            <a:ext cx="230428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E600"/>
                </a:solidFill>
                <a:latin typeface="Segoe UI"/>
              </a:rPr>
              <a:t>INTEGRATION ADAPTERS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87184" y="5148072"/>
            <a:ext cx="2249424" cy="18288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B8B8C6"/>
                </a:solidFill>
                <a:latin typeface="Segoe UI"/>
              </a:rPr>
              <a:t>ERP / Order Mgmt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87184" y="5358384"/>
            <a:ext cx="2249424" cy="18288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B8B8C6"/>
                </a:solidFill>
                <a:latin typeface="Segoe UI"/>
              </a:rPr>
              <a:t>Email / SMTP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87184" y="5568696"/>
            <a:ext cx="2249424" cy="182880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1" i="0">
                <a:solidFill>
                  <a:srgbClr val="B8B8C6"/>
                </a:solidFill>
                <a:latin typeface="Segoe UI"/>
              </a:rPr>
              <a:t>Audit store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47504" y="1691640"/>
            <a:ext cx="1892807" cy="41148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47504" y="1691640"/>
            <a:ext cx="1892807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0" y="1828800"/>
            <a:ext cx="1636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E600"/>
                </a:solidFill>
                <a:latin typeface="Segoe UI"/>
              </a:rPr>
              <a:t>CROSS-CUTTING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2139696"/>
            <a:ext cx="1636775" cy="7772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Exception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Governance &amp; routing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75520" y="3035808"/>
            <a:ext cx="1636775" cy="7772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Audit &amp;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Traceability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75520" y="3931920"/>
            <a:ext cx="1636775" cy="7772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Security &amp;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Access control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75520" y="4828031"/>
            <a:ext cx="1636775" cy="7772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Observability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&amp; Logging</a:t>
            </a:r>
          </a:p>
        </p:txBody>
      </p:sp>
      <p:sp>
        <p:nvSpPr>
          <p:cNvPr id="63" name="Down Arrow 62"/>
          <p:cNvSpPr/>
          <p:nvPr/>
        </p:nvSpPr>
        <p:spPr>
          <a:xfrm>
            <a:off x="1179576" y="2258568"/>
            <a:ext cx="219456" cy="91440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own Arrow 63"/>
          <p:cNvSpPr/>
          <p:nvPr/>
        </p:nvSpPr>
        <p:spPr>
          <a:xfrm>
            <a:off x="1179576" y="2926080"/>
            <a:ext cx="219456" cy="91440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own Arrow 64"/>
          <p:cNvSpPr/>
          <p:nvPr/>
        </p:nvSpPr>
        <p:spPr>
          <a:xfrm>
            <a:off x="1179576" y="4096512"/>
            <a:ext cx="219456" cy="91440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own Arrow 65"/>
          <p:cNvSpPr/>
          <p:nvPr/>
        </p:nvSpPr>
        <p:spPr>
          <a:xfrm>
            <a:off x="1179576" y="4773168"/>
            <a:ext cx="219456" cy="91440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1">
                <a:solidFill>
                  <a:srgbClr val="FFE600"/>
                </a:solidFill>
                <a:latin typeface="Segoe UI"/>
              </a:rPr>
              <a:t>Logical reference architecture.  </a:t>
            </a:r>
            <a:r>
              <a:rPr sz="950" b="0" i="1">
                <a:solidFill>
                  <a:srgbClr val="8A8A99"/>
                </a:solidFill>
                <a:latin typeface="Segoe UI"/>
              </a:rPr>
              <a:t>Governed master data drives every decision; the platform integrates with enterprise ERP / MDM, identity and cloud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RUNTIME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Component &amp; data-flow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331720" cy="14630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E600"/>
                </a:solidFill>
                <a:latin typeface="Segoe UI"/>
              </a:rPr>
              <a:t>CUSTOMER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12848"/>
            <a:ext cx="2011680" cy="21945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Email 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68880"/>
            <a:ext cx="2011680" cy="21945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PDF 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24912"/>
            <a:ext cx="2011680" cy="21945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Excel 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80944"/>
            <a:ext cx="2011680" cy="21945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Scanned 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783080"/>
            <a:ext cx="5806440" cy="86868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EXPERIENCE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969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CSR Workspace &amp; Console  (intake · live agent panels · one-click decisions · audit)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783080"/>
            <a:ext cx="2240280" cy="361188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1874519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INTEGRATIONS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224028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B8B8C6"/>
                </a:solidFill>
                <a:latin typeface="Segoe UI"/>
              </a:rPr>
              <a:t>ERP / Order Mgmt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7192" y="274320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B8B8C6"/>
                </a:solidFill>
                <a:latin typeface="Segoe UI"/>
              </a:rPr>
              <a:t>Email / SMTP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37192" y="324612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B8B8C6"/>
                </a:solidFill>
                <a:latin typeface="Segoe UI"/>
              </a:rPr>
              <a:t>Approval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7192" y="3749040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B8B8C6"/>
                </a:solidFill>
                <a:latin typeface="Segoe UI"/>
              </a:rPr>
              <a:t>Audit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2926080"/>
            <a:ext cx="5806440" cy="24688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926080"/>
            <a:ext cx="5806440" cy="9144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0540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E600"/>
                </a:solidFill>
                <a:latin typeface="Segoe UI"/>
              </a:rPr>
              <a:t>ORCHESTRATION ENGINE</a:t>
            </a:r>
            <a:r>
              <a:rPr sz="900" b="0" i="1">
                <a:solidFill>
                  <a:srgbClr val="8A8A99"/>
                </a:solidFill>
                <a:latin typeface="Segoe UI"/>
              </a:rPr>
              <a:t>   (resumable pipeline / state machine)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3429000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PO Extractor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67528" y="3429000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Intake Resolver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3429000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Account Validator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41148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Decision Pipeline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(9 agents)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67528" y="41148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Exception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Governance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3488" y="41148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Order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Execution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5623560"/>
            <a:ext cx="5806440" cy="6858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5687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MASTER-DATA FOUNDATION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Customer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9372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Buyer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9744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Product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00116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Pricing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0488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Credit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80860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Inventory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71232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Logistics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61604" y="5943600"/>
            <a:ext cx="658368" cy="292608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 w="635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B8B8C6"/>
                </a:solidFill>
                <a:latin typeface="Segoe UI"/>
              </a:rPr>
              <a:t>Budget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880360" y="2395728"/>
            <a:ext cx="365760" cy="0"/>
          </a:xfrm>
          <a:prstGeom prst="line">
            <a:avLst/>
          </a:prstGeom>
          <a:ln w="19050">
            <a:solidFill>
              <a:srgbClr val="FF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26480" y="2651760"/>
            <a:ext cx="0" cy="274320"/>
          </a:xfrm>
          <a:prstGeom prst="line">
            <a:avLst/>
          </a:prstGeom>
          <a:ln w="19050">
            <a:solidFill>
              <a:srgbClr val="FFE6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126480" y="5394960"/>
            <a:ext cx="0" cy="228600"/>
          </a:xfrm>
          <a:prstGeom prst="line">
            <a:avLst/>
          </a:prstGeom>
          <a:ln w="19050">
            <a:solidFill>
              <a:srgbClr val="FFE6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052560" y="3931920"/>
            <a:ext cx="320040" cy="0"/>
          </a:xfrm>
          <a:prstGeom prst="line">
            <a:avLst/>
          </a:prstGeom>
          <a:ln w="19050">
            <a:solidFill>
              <a:srgbClr val="FFE6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8A8A99"/>
                </a:solidFill>
                <a:latin typeface="Segoe UI"/>
              </a:rPr>
              <a:t>Data-driven decisions read governed master data; results &amp; exceptions flow back to the CSR and out to ERP / email.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PROCESS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Process flowchart —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36192"/>
            <a:ext cx="6858000" cy="4572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367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E600"/>
                </a:solidFill>
                <a:latin typeface="Segoe UI"/>
              </a:rPr>
              <a:t>PO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609344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Email 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09344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PDF 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1609344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Excel 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52744" y="1609344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8B8C6"/>
                </a:solidFill>
                <a:latin typeface="Segoe UI"/>
              </a:rPr>
              <a:t>Scanned PO</a:t>
            </a:r>
          </a:p>
        </p:txBody>
      </p:sp>
      <p:sp>
        <p:nvSpPr>
          <p:cNvPr id="15" name="Process 14"/>
          <p:cNvSpPr/>
          <p:nvPr/>
        </p:nvSpPr>
        <p:spPr>
          <a:xfrm>
            <a:off x="1554480" y="2212848"/>
            <a:ext cx="3657600" cy="402336"/>
          </a:xfrm>
          <a:prstGeom prst="flowChartProcess">
            <a:avLst/>
          </a:prstGeom>
          <a:solidFill>
            <a:srgbClr val="2E2E40"/>
          </a:solidFill>
          <a:ln w="1270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Intake — digitise &amp; extract PO</a:t>
            </a:r>
          </a:p>
        </p:txBody>
      </p:sp>
      <p:sp>
        <p:nvSpPr>
          <p:cNvPr id="16" name="Process 15"/>
          <p:cNvSpPr/>
          <p:nvPr/>
        </p:nvSpPr>
        <p:spPr>
          <a:xfrm>
            <a:off x="1554480" y="2724912"/>
            <a:ext cx="3657600" cy="402336"/>
          </a:xfrm>
          <a:prstGeom prst="flowChartProcess">
            <a:avLst/>
          </a:prstGeom>
          <a:solidFill>
            <a:srgbClr val="2E2E40"/>
          </a:solidFill>
          <a:ln w="1270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Reconcile every line vs master data</a:t>
            </a:r>
          </a:p>
        </p:txBody>
      </p:sp>
      <p:sp>
        <p:nvSpPr>
          <p:cNvPr id="17" name="Decision 16"/>
          <p:cNvSpPr/>
          <p:nvPr/>
        </p:nvSpPr>
        <p:spPr>
          <a:xfrm>
            <a:off x="1554480" y="3236976"/>
            <a:ext cx="3657600" cy="676656"/>
          </a:xfrm>
          <a:prstGeom prst="flowChartDecision">
            <a:avLst/>
          </a:prstGeom>
          <a:solidFill>
            <a:srgbClr val="242433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Intake issues?  (obsolete SKU · qty · UOM · buyer)</a:t>
            </a:r>
          </a:p>
        </p:txBody>
      </p:sp>
      <p:sp>
        <p:nvSpPr>
          <p:cNvPr id="18" name="Process 17"/>
          <p:cNvSpPr/>
          <p:nvPr/>
        </p:nvSpPr>
        <p:spPr>
          <a:xfrm>
            <a:off x="1554480" y="4041648"/>
            <a:ext cx="3657600" cy="402336"/>
          </a:xfrm>
          <a:prstGeom prst="flowChartProcess">
            <a:avLst/>
          </a:prstGeom>
          <a:solidFill>
            <a:srgbClr val="2E2E40"/>
          </a:solidFill>
          <a:ln w="1270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Validate customer, buyer &amp; product match</a:t>
            </a:r>
          </a:p>
        </p:txBody>
      </p:sp>
      <p:sp>
        <p:nvSpPr>
          <p:cNvPr id="19" name="Process 18"/>
          <p:cNvSpPr/>
          <p:nvPr/>
        </p:nvSpPr>
        <p:spPr>
          <a:xfrm>
            <a:off x="1554480" y="4553712"/>
            <a:ext cx="3657600" cy="402336"/>
          </a:xfrm>
          <a:prstGeom prst="flowChartProcess">
            <a:avLst/>
          </a:prstGeom>
          <a:solidFill>
            <a:srgbClr val="2E2E40"/>
          </a:solidFill>
          <a:ln w="12700">
            <a:solidFill>
              <a:srgbClr val="3C3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Price · credit · inventory · logistics checks</a:t>
            </a:r>
          </a:p>
        </p:txBody>
      </p:sp>
      <p:sp>
        <p:nvSpPr>
          <p:cNvPr id="20" name="Decision 19"/>
          <p:cNvSpPr/>
          <p:nvPr/>
        </p:nvSpPr>
        <p:spPr>
          <a:xfrm>
            <a:off x="1554480" y="5065776"/>
            <a:ext cx="3657600" cy="676656"/>
          </a:xfrm>
          <a:prstGeom prst="flowChartDecision">
            <a:avLst/>
          </a:prstGeom>
          <a:solidFill>
            <a:srgbClr val="242433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Policy / approval exception?  (margin · credit · budget)</a:t>
            </a:r>
          </a:p>
        </p:txBody>
      </p:sp>
      <p:sp>
        <p:nvSpPr>
          <p:cNvPr id="21" name="Terminator 20"/>
          <p:cNvSpPr/>
          <p:nvPr/>
        </p:nvSpPr>
        <p:spPr>
          <a:xfrm>
            <a:off x="1554480" y="5870448"/>
            <a:ext cx="3657600" cy="420624"/>
          </a:xfrm>
          <a:prstGeom prst="flowChartTerminator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141E"/>
                </a:solidFill>
                <a:latin typeface="Segoe UI"/>
              </a:rPr>
              <a:t>Sales order created  ·  notify  · 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2494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HUMAN-IN-THE-LOOP  ·  CSR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5420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B8B8C6"/>
                </a:solidFill>
                <a:latin typeface="Segoe UI"/>
              </a:rPr>
              <a:t>Blue = intake resolution    Amber = approval    Red = stop</a:t>
            </a:r>
          </a:p>
        </p:txBody>
      </p:sp>
      <p:sp>
        <p:nvSpPr>
          <p:cNvPr id="24" name="Process 23"/>
          <p:cNvSpPr/>
          <p:nvPr/>
        </p:nvSpPr>
        <p:spPr>
          <a:xfrm>
            <a:off x="7680960" y="3236976"/>
            <a:ext cx="3931920" cy="676656"/>
          </a:xfrm>
          <a:prstGeom prst="flowChartProcess">
            <a:avLst/>
          </a:prstGeom>
          <a:solidFill>
            <a:srgbClr val="242433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CSR resolves the gate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substitute · qty · UOM · buyer pick</a:t>
            </a:r>
          </a:p>
        </p:txBody>
      </p:sp>
      <p:sp>
        <p:nvSpPr>
          <p:cNvPr id="25" name="Process 24"/>
          <p:cNvSpPr/>
          <p:nvPr/>
        </p:nvSpPr>
        <p:spPr>
          <a:xfrm>
            <a:off x="7680960" y="5065776"/>
            <a:ext cx="3931920" cy="676656"/>
          </a:xfrm>
          <a:prstGeom prst="flowChartProcess">
            <a:avLst/>
          </a:prstGeom>
          <a:solidFill>
            <a:srgbClr val="242433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CSR decides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Approve · Reject · Escalate</a:t>
            </a:r>
          </a:p>
        </p:txBody>
      </p:sp>
      <p:sp>
        <p:nvSpPr>
          <p:cNvPr id="26" name="Terminator 25"/>
          <p:cNvSpPr/>
          <p:nvPr/>
        </p:nvSpPr>
        <p:spPr>
          <a:xfrm>
            <a:off x="7680960" y="5870448"/>
            <a:ext cx="3931920" cy="420624"/>
          </a:xfrm>
          <a:prstGeom prst="flowChartTerminator">
            <a:avLst/>
          </a:prstGeom>
          <a:solidFill>
            <a:srgbClr val="FF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Order stopped / routed to responsible team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227832" y="1993392"/>
            <a:ext cx="310896" cy="182880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383280" y="2615184"/>
            <a:ext cx="0" cy="109728"/>
          </a:xfrm>
          <a:prstGeom prst="line">
            <a:avLst/>
          </a:prstGeom>
          <a:ln w="19050">
            <a:solidFill>
              <a:srgbClr val="FF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83280" y="3127248"/>
            <a:ext cx="0" cy="109728"/>
          </a:xfrm>
          <a:prstGeom prst="line">
            <a:avLst/>
          </a:prstGeom>
          <a:ln w="19050">
            <a:solidFill>
              <a:srgbClr val="FF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83280" y="3913632"/>
            <a:ext cx="0" cy="128016"/>
          </a:xfrm>
          <a:prstGeom prst="line">
            <a:avLst/>
          </a:prstGeom>
          <a:ln w="19050">
            <a:solidFill>
              <a:srgbClr val="FF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474720" y="392277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B8B8C6"/>
                </a:solidFill>
                <a:latin typeface="Segoe UI"/>
              </a:rPr>
              <a:t>No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0" y="4443984"/>
            <a:ext cx="0" cy="109728"/>
          </a:xfrm>
          <a:prstGeom prst="line">
            <a:avLst/>
          </a:prstGeom>
          <a:ln w="19050">
            <a:solidFill>
              <a:srgbClr val="FF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83280" y="4956048"/>
            <a:ext cx="0" cy="109728"/>
          </a:xfrm>
          <a:prstGeom prst="line">
            <a:avLst/>
          </a:prstGeom>
          <a:ln w="19050">
            <a:solidFill>
              <a:srgbClr val="FF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83280" y="5742432"/>
            <a:ext cx="0" cy="128016"/>
          </a:xfrm>
          <a:prstGeom prst="line">
            <a:avLst/>
          </a:prstGeom>
          <a:ln w="19050">
            <a:solidFill>
              <a:srgbClr val="FFE6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74720" y="575157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B8B8C6"/>
                </a:solidFill>
                <a:latin typeface="Segoe UI"/>
              </a:rPr>
              <a:t>No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12080" y="3575304"/>
            <a:ext cx="2468880" cy="0"/>
          </a:xfrm>
          <a:prstGeom prst="line">
            <a:avLst/>
          </a:prstGeom>
          <a:ln w="19050">
            <a:solidFill>
              <a:srgbClr val="4A9E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285232" y="3346704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4A9EFF"/>
                </a:solidFill>
                <a:latin typeface="Segoe UI"/>
              </a:rPr>
              <a:t>Yes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035040" y="3794760"/>
            <a:ext cx="1645920" cy="0"/>
          </a:xfrm>
          <a:prstGeom prst="line">
            <a:avLst/>
          </a:prstGeom>
          <a:ln w="19050">
            <a:solidFill>
              <a:srgbClr val="4A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35040" y="3794760"/>
            <a:ext cx="0" cy="448056"/>
          </a:xfrm>
          <a:prstGeom prst="line">
            <a:avLst/>
          </a:prstGeom>
          <a:ln w="19050">
            <a:solidFill>
              <a:srgbClr val="4A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212080" y="4242816"/>
            <a:ext cx="822960" cy="0"/>
          </a:xfrm>
          <a:prstGeom prst="line">
            <a:avLst/>
          </a:prstGeom>
          <a:ln w="19050">
            <a:solidFill>
              <a:srgbClr val="4A9E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40680" y="3602736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4A9EFF"/>
                </a:solidFill>
                <a:latin typeface="Segoe UI"/>
              </a:rPr>
              <a:t>resolved → continue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212080" y="5404104"/>
            <a:ext cx="2468880" cy="0"/>
          </a:xfrm>
          <a:prstGeom prst="line">
            <a:avLst/>
          </a:prstGeom>
          <a:ln w="19050">
            <a:solidFill>
              <a:srgbClr val="FFB0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285232" y="5175504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B020"/>
                </a:solidFill>
                <a:latin typeface="Segoe UI"/>
              </a:rPr>
              <a:t>Yes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035040" y="5623560"/>
            <a:ext cx="1645920" cy="0"/>
          </a:xfrm>
          <a:prstGeom prst="line">
            <a:avLst/>
          </a:prstGeom>
          <a:ln w="1905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35040" y="5623560"/>
            <a:ext cx="0" cy="457200"/>
          </a:xfrm>
          <a:prstGeom prst="line">
            <a:avLst/>
          </a:prstGeom>
          <a:ln w="19050">
            <a:solidFill>
              <a:srgbClr val="FFB0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212080" y="6080760"/>
            <a:ext cx="822960" cy="0"/>
          </a:xfrm>
          <a:prstGeom prst="line">
            <a:avLst/>
          </a:prstGeom>
          <a:ln w="19050">
            <a:solidFill>
              <a:srgbClr val="FFB0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40680" y="6089904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B020"/>
                </a:solidFill>
                <a:latin typeface="Segoe UI"/>
              </a:rPr>
              <a:t>approve → continue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46920" y="5742432"/>
            <a:ext cx="0" cy="128016"/>
          </a:xfrm>
          <a:prstGeom prst="line">
            <a:avLst/>
          </a:prstGeom>
          <a:ln w="19050">
            <a:solidFill>
              <a:srgbClr val="FF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738360" y="574243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5A5A"/>
                </a:solidFill>
                <a:latin typeface="Segoe UI"/>
              </a:rPr>
              <a:t>reject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INTERACTION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Sequence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CSR / Buyer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2240280"/>
            <a:ext cx="0" cy="3931920"/>
          </a:xfrm>
          <a:prstGeom prst="line">
            <a:avLst/>
          </a:prstGeom>
          <a:ln w="15875">
            <a:solidFill>
              <a:srgbClr val="3C3C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39" y="17830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CSR Workspace UI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2240280"/>
            <a:ext cx="0" cy="3931920"/>
          </a:xfrm>
          <a:prstGeom prst="line">
            <a:avLst/>
          </a:prstGeom>
          <a:ln w="15875">
            <a:solidFill>
              <a:srgbClr val="3C3C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51959" y="17830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Orchestrator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20640" y="2240280"/>
            <a:ext cx="0" cy="3931920"/>
          </a:xfrm>
          <a:prstGeom prst="line">
            <a:avLst/>
          </a:prstGeom>
          <a:ln w="15875">
            <a:solidFill>
              <a:srgbClr val="3C3C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80" y="17830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Specialist Agents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95160" y="2240280"/>
            <a:ext cx="0" cy="3931920"/>
          </a:xfrm>
          <a:prstGeom prst="line">
            <a:avLst/>
          </a:prstGeom>
          <a:ln w="15875">
            <a:solidFill>
              <a:srgbClr val="3C3C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01000" y="17830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Master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9680" y="2240280"/>
            <a:ext cx="0" cy="3931920"/>
          </a:xfrm>
          <a:prstGeom prst="line">
            <a:avLst/>
          </a:prstGeom>
          <a:ln w="15875">
            <a:solidFill>
              <a:srgbClr val="3C3C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75520" y="1783080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952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ERP / Email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744200" y="2240280"/>
            <a:ext cx="0" cy="3931920"/>
          </a:xfrm>
          <a:prstGeom prst="line">
            <a:avLst/>
          </a:prstGeom>
          <a:ln w="15875">
            <a:solidFill>
              <a:srgbClr val="3C3C4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71600" y="2606040"/>
            <a:ext cx="1874520" cy="0"/>
          </a:xfrm>
          <a:prstGeom prst="line">
            <a:avLst/>
          </a:prstGeom>
          <a:ln w="1587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2359152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1. Submit PO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2926080"/>
            <a:ext cx="1874520" cy="0"/>
          </a:xfrm>
          <a:prstGeom prst="line">
            <a:avLst/>
          </a:prstGeom>
          <a:ln w="1587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46120" y="2679192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2. start(po)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3246120"/>
            <a:ext cx="1874520" cy="0"/>
          </a:xfrm>
          <a:prstGeom prst="line">
            <a:avLst/>
          </a:prstGeom>
          <a:ln w="1587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20640" y="2999232"/>
            <a:ext cx="1874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3. run intake + pipeline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3566160"/>
            <a:ext cx="1874520" cy="0"/>
          </a:xfrm>
          <a:prstGeom prst="line">
            <a:avLst/>
          </a:prstGeom>
          <a:ln w="1587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95160" y="3319272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4. lookup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95160" y="3886200"/>
            <a:ext cx="1874520" cy="0"/>
          </a:xfrm>
          <a:prstGeom prst="line">
            <a:avLst/>
          </a:prstGeom>
          <a:ln w="15875">
            <a:solidFill>
              <a:srgbClr val="B8B8C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95160" y="3639312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5. records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120640" y="4206240"/>
            <a:ext cx="1874520" cy="0"/>
          </a:xfrm>
          <a:prstGeom prst="line">
            <a:avLst/>
          </a:prstGeom>
          <a:ln w="15875">
            <a:solidFill>
              <a:srgbClr val="B8B8C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20640" y="3959352"/>
            <a:ext cx="1874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6. results / exceptions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434840"/>
            <a:ext cx="3977639" cy="1051560"/>
          </a:xfrm>
          <a:prstGeom prst="rect">
            <a:avLst/>
          </a:prstGeom>
          <a:noFill/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4434840"/>
            <a:ext cx="1371600" cy="25603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14141E"/>
                </a:solidFill>
                <a:latin typeface="Segoe UI"/>
              </a:rPr>
              <a:t>alt  [exception]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246120" y="4846320"/>
            <a:ext cx="1874520" cy="0"/>
          </a:xfrm>
          <a:prstGeom prst="line">
            <a:avLst/>
          </a:prstGeom>
          <a:ln w="15875">
            <a:solidFill>
              <a:srgbClr val="FFB0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246120" y="4599431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7. CSR DECISION NEEDED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71600" y="5138928"/>
            <a:ext cx="1874520" cy="0"/>
          </a:xfrm>
          <a:prstGeom prst="line">
            <a:avLst/>
          </a:prstGeom>
          <a:ln w="1587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71600" y="4892040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8. decision (pick / enter / approve)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46120" y="5413248"/>
            <a:ext cx="1874520" cy="0"/>
          </a:xfrm>
          <a:prstGeom prst="line">
            <a:avLst/>
          </a:prstGeom>
          <a:ln w="1587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46120" y="5166360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9. resume(decision)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20640" y="5760720"/>
            <a:ext cx="5623560" cy="0"/>
          </a:xfrm>
          <a:prstGeom prst="line">
            <a:avLst/>
          </a:prstGeom>
          <a:ln w="15875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0640" y="5513831"/>
            <a:ext cx="5623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10. create order / notify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5120640" y="6035040"/>
            <a:ext cx="5623560" cy="0"/>
          </a:xfrm>
          <a:prstGeom prst="line">
            <a:avLst/>
          </a:prstGeom>
          <a:ln w="15875">
            <a:solidFill>
              <a:srgbClr val="B8B8C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20640" y="5788152"/>
            <a:ext cx="5623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B8B8C6"/>
                </a:solidFill>
                <a:latin typeface="Segoe UI"/>
              </a:rPr>
              <a:t>11. order # / 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8A8A99"/>
                </a:solidFill>
                <a:latin typeface="Segoe UI"/>
              </a:rPr>
              <a:t>The exception block (7–9) repeats per gate; clean orders skip it entirely (straight-through).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51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E600"/>
                </a:solidFill>
                <a:latin typeface="Segoe UI"/>
              </a:rPr>
              <a:t>SECTION THE AI TOOL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AI tool we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" y="4160520"/>
            <a:ext cx="2743200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4340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B8B8C6"/>
                </a:solidFill>
                <a:latin typeface="Segoe UI"/>
              </a:rPr>
              <a:t>The agents, the master-data foundation, the pipeline, the two processing paths, governance and technology.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The AI agent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3794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Intake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5856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Digitises the raw PO, extracts header/buyer/ship-to/lines, and reconciles every line against master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Obsolete SKU · bad qty · UOM · unknown buyer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6916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91640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83794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Customer Validation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25856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Resolves customer &amp; account hierarchy, validates ship-to, and authorises the buyer.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Account · ship-to · buyer authority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6916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691640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83794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Product Matching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258568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Confirms each SKU against the catalog and runs the compliance sub-check.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82549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Catalog match · compliance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55264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55264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401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Pricing &amp; Promo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22191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Builds the price waterfall (list → contract → tier → promo → rebate → net) and totals.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3891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Margin / discount policy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3255264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3255264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3401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Credit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3822191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Checks order value against available credit and payment terms.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43891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Credit limit · terms ·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3255264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3255264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5" y="340156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Inventory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3822191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Sources each line across distribution centres and confirms availability.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3891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ATP · allocation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818888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818888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96519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Shipments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" y="5385816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Confirms carrier serviceability, freight and delivery SLA.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95274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Fulfillment plan · ETA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818888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79392" y="4818888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5424" y="496519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Approvals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5424" y="5385816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Runs the approval-matrix / budget check last, before execution.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4" y="595274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Budget · self-approval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10144" y="4818888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10144" y="4818888"/>
            <a:ext cx="73152" cy="14173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66175" y="496519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 Order Execution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6175" y="5385816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B8B8C6"/>
                </a:solidFill>
                <a:latin typeface="Segoe UI"/>
              </a:rPr>
              <a:t>Creates the sales order and emits the completion record.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6175" y="595274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FFE600"/>
                </a:solidFill>
                <a:latin typeface="Segoe UI"/>
              </a:rPr>
              <a:t>Order created · audit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Master data drives every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B8B8C6"/>
                </a:solidFill>
                <a:latin typeface="Segoe UI"/>
              </a:rPr>
              <a:t>Each agent reads governed master data sourced from the enterprise systems of record. Change the data, not the code, to change behaviour.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606039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245973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788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Account hierarchy, tiers, buying history, fulfillment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33172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59" y="2606039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45973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Buyer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88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Buyer profiles, roles, permissions, product-family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331720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1312" y="2606039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45973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788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Catalog, lifecycle status, substitutes, UOM conversions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00984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3575303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" y="34290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3758183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Price lists, contracts, volume tiers, promos, rebates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300984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0559" y="3575303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34290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Credit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2896" y="3758183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Credit limits, available credit, payment terms,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3300984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11312" y="3575303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34290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3758183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Plant / DC stock, in-transit, ATP, allocation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70248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8" y="4544568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2144" y="439826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Logistics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" y="47274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Carriers, serviceability, freight, delivery SLA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79392" y="4270248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80559" y="4544568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82896" y="439826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Budget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6" y="47274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Cost-centre budgets, approval matrix, buyer authority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0144" y="4270248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11312" y="4544568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13648" y="439826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Compliance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47274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Regional restrictions, approvals, required documents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39512"/>
            <a:ext cx="3611880" cy="8412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9808" y="5513832"/>
            <a:ext cx="256032" cy="256032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52144" y="536752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Governance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" y="56967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B8B8C6"/>
                </a:solidFill>
                <a:latin typeface="Segoe UI"/>
              </a:rPr>
              <a:t>Exception routing, escalation targets, SLAs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The orchestration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Sequential decision layers thread a shared context. The pipeline pauses on the first exception and resumes after the CSR decides.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Intake</a:t>
            </a:r>
          </a:p>
        </p:txBody>
      </p:sp>
      <p:sp>
        <p:nvSpPr>
          <p:cNvPr id="11" name="Chevron 10"/>
          <p:cNvSpPr/>
          <p:nvPr/>
        </p:nvSpPr>
        <p:spPr>
          <a:xfrm>
            <a:off x="1719072" y="2670048"/>
            <a:ext cx="187452" cy="237744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69948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3022092" y="2670048"/>
            <a:ext cx="187452" cy="237744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72968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Product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Matching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4325112" y="2670048"/>
            <a:ext cx="187452" cy="237744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75988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Pricing &amp;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Promo</a:t>
            </a:r>
          </a:p>
        </p:txBody>
      </p:sp>
      <p:sp>
        <p:nvSpPr>
          <p:cNvPr id="17" name="Chevron 16"/>
          <p:cNvSpPr/>
          <p:nvPr/>
        </p:nvSpPr>
        <p:spPr>
          <a:xfrm>
            <a:off x="5628132" y="2670048"/>
            <a:ext cx="187452" cy="237744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79008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Credit</a:t>
            </a:r>
          </a:p>
        </p:txBody>
      </p:sp>
      <p:sp>
        <p:nvSpPr>
          <p:cNvPr id="19" name="Chevron 18"/>
          <p:cNvSpPr/>
          <p:nvPr/>
        </p:nvSpPr>
        <p:spPr>
          <a:xfrm>
            <a:off x="6931152" y="2670048"/>
            <a:ext cx="187452" cy="237744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82028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Inventory</a:t>
            </a:r>
          </a:p>
        </p:txBody>
      </p:sp>
      <p:sp>
        <p:nvSpPr>
          <p:cNvPr id="21" name="Chevron 20"/>
          <p:cNvSpPr/>
          <p:nvPr/>
        </p:nvSpPr>
        <p:spPr>
          <a:xfrm>
            <a:off x="8234172" y="2670048"/>
            <a:ext cx="187452" cy="237744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85048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Shipments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9537192" y="2670048"/>
            <a:ext cx="187452" cy="237744"/>
          </a:xfrm>
          <a:prstGeom prst="chevron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88067" y="2331720"/>
            <a:ext cx="1170432" cy="9144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1270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E600"/>
                </a:solidFill>
                <a:latin typeface="Segoe UI"/>
              </a:rPr>
              <a:t>8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Approvals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090404" y="3291839"/>
            <a:ext cx="365760" cy="292608"/>
          </a:xfrm>
          <a:prstGeom prst="downArrow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0" y="3611880"/>
            <a:ext cx="3767328" cy="65836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 w="12700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Order Execution Agent  ·  create 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611880"/>
            <a:ext cx="7040880" cy="65836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B8B8C6"/>
                </a:solidFill>
                <a:latin typeface="Segoe UI"/>
              </a:rPr>
              <a:t>Exception Governance &amp; Routing  —  runs on every order (records + routes exceptions)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09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709160"/>
            <a:ext cx="73152" cy="13716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8920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Pauses on first exception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3309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The pipeline stops at the layer that needs a decision — nothing downstream runs on bad data.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9392" y="4709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9392" y="4709160"/>
            <a:ext cx="73152" cy="1371600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48920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Resumes automatically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53309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Once the CSR decides, the shared context is updated and the pipeline continues from where it paused.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4709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4709160"/>
            <a:ext cx="73152" cy="13716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5" y="489204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Approvals run last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53309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Budget / approval-matrix check runs only after product, pricing, credit, inventory and logistics pass.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One engine, two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40680" cy="118872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5C759"/>
                </a:solidFill>
                <a:latin typeface="Segoe UI"/>
              </a:rPr>
              <a:t>HAPPY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Straight-through processing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026664"/>
            <a:ext cx="146304" cy="146304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718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Clean PO, no ambiguity or policy breach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529584"/>
            <a:ext cx="146304" cy="146304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474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Every agent validates &amp; passes automatically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032503"/>
            <a:ext cx="146304" cy="146304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97763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Zero human intervention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535424"/>
            <a:ext cx="146304" cy="146304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480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Order created in a single pass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038344"/>
            <a:ext cx="146304" cy="146304"/>
          </a:xfrm>
          <a:prstGeom prst="ellipse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9834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Full audit trail produced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32120"/>
            <a:ext cx="4846320" cy="3840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Outcome:  order created with no CSR touch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78308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440680" cy="11887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0"/>
                </a:solidFill>
                <a:latin typeface="Segoe UI"/>
              </a:rPr>
              <a:t>CSR APPROVAL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3774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Human-in-the-loop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3026664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93992" y="29718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AI auto-resolves everything it can from data</a:t>
            </a:r>
          </a:p>
        </p:txBody>
      </p:sp>
      <p:sp>
        <p:nvSpPr>
          <p:cNvPr id="30" name="Oval 29"/>
          <p:cNvSpPr/>
          <p:nvPr/>
        </p:nvSpPr>
        <p:spPr>
          <a:xfrm>
            <a:off x="6519672" y="3529584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34747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Ambiguous / policy-breaching items PAUSE</a:t>
            </a:r>
          </a:p>
        </p:txBody>
      </p:sp>
      <p:sp>
        <p:nvSpPr>
          <p:cNvPr id="32" name="Oval 31"/>
          <p:cNvSpPr/>
          <p:nvPr/>
        </p:nvSpPr>
        <p:spPr>
          <a:xfrm>
            <a:off x="6519672" y="4032503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97763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CSR gets a pre-investigated, one-click decision</a:t>
            </a:r>
          </a:p>
        </p:txBody>
      </p:sp>
      <p:sp>
        <p:nvSpPr>
          <p:cNvPr id="34" name="Oval 33"/>
          <p:cNvSpPr/>
          <p:nvPr/>
        </p:nvSpPr>
        <p:spPr>
          <a:xfrm>
            <a:off x="6519672" y="4535424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4480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Guardrails validate every manual entry</a:t>
            </a:r>
          </a:p>
        </p:txBody>
      </p:sp>
      <p:sp>
        <p:nvSpPr>
          <p:cNvPr id="36" name="Oval 35"/>
          <p:cNvSpPr/>
          <p:nvPr/>
        </p:nvSpPr>
        <p:spPr>
          <a:xfrm>
            <a:off x="6519672" y="5038344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49834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Pipeline resumes automatically after each 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5532120"/>
            <a:ext cx="4846320" cy="38404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Outcome:  CSR decides only the exceptions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SCENARIO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Happy Flow — straight-through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Submit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PO</a:t>
            </a:r>
          </a:p>
        </p:txBody>
      </p:sp>
      <p:sp>
        <p:nvSpPr>
          <p:cNvPr id="10" name="Chevron 9"/>
          <p:cNvSpPr/>
          <p:nvPr/>
        </p:nvSpPr>
        <p:spPr>
          <a:xfrm>
            <a:off x="157276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134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Intake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extract + 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264718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1576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372160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018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Product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Matching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479602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Pricing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587044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3902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Credit</a:t>
            </a:r>
          </a:p>
        </p:txBody>
      </p:sp>
      <p:sp>
        <p:nvSpPr>
          <p:cNvPr id="20" name="Chevron 19"/>
          <p:cNvSpPr/>
          <p:nvPr/>
        </p:nvSpPr>
        <p:spPr>
          <a:xfrm>
            <a:off x="694486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1344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Inventory</a:t>
            </a:r>
          </a:p>
        </p:txBody>
      </p:sp>
      <p:sp>
        <p:nvSpPr>
          <p:cNvPr id="22" name="Chevron 21"/>
          <p:cNvSpPr/>
          <p:nvPr/>
        </p:nvSpPr>
        <p:spPr>
          <a:xfrm>
            <a:off x="801928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7867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Shipments</a:t>
            </a:r>
          </a:p>
        </p:txBody>
      </p:sp>
      <p:sp>
        <p:nvSpPr>
          <p:cNvPr id="24" name="Chevron 23"/>
          <p:cNvSpPr/>
          <p:nvPr/>
        </p:nvSpPr>
        <p:spPr>
          <a:xfrm>
            <a:off x="909370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6228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 w="9525">
            <a:solidFill>
              <a:srgbClr val="35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Approvals</a:t>
            </a:r>
          </a:p>
        </p:txBody>
      </p:sp>
      <p:sp>
        <p:nvSpPr>
          <p:cNvPr id="26" name="Chevron 25"/>
          <p:cNvSpPr/>
          <p:nvPr/>
        </p:nvSpPr>
        <p:spPr>
          <a:xfrm>
            <a:off x="10168128" y="2171700"/>
            <a:ext cx="96012" cy="182880"/>
          </a:xfrm>
          <a:prstGeom prst="chevron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36708" y="1828800"/>
            <a:ext cx="1024128" cy="868680"/>
          </a:xfrm>
          <a:prstGeom prst="roundRect">
            <a:avLst>
              <a:gd name="adj" fmla="val 8000"/>
            </a:avLst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4141E"/>
                </a:solidFill>
                <a:latin typeface="Segoe UI"/>
              </a:rPr>
              <a:t>Order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4141E"/>
                </a:solidFill>
                <a:latin typeface="Segoe UI"/>
              </a:rPr>
              <a:t>Created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834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All checks pass automatically — no </a:t>
            </a:r>
            <a:r>
              <a:rPr sz="1200" b="1" i="0">
                <a:solidFill>
                  <a:srgbClr val="35C759"/>
                </a:solidFill>
                <a:latin typeface="Segoe UI"/>
              </a:rPr>
              <a:t>CSR DECISION NEEDED</a:t>
            </a:r>
            <a:r>
              <a:rPr sz="1200" b="0" i="0">
                <a:solidFill>
                  <a:srgbClr val="B8B8C6"/>
                </a:solidFill>
                <a:latin typeface="Segoe UI"/>
              </a:rPr>
              <a:t> banners appear.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291840"/>
            <a:ext cx="5943600" cy="269748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4564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E600"/>
                </a:solidFill>
                <a:latin typeface="Segoe UI"/>
              </a:rPr>
              <a:t>EXAMPLE PO  —  PO-2026-30001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84048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Great Lakes Supply Co  ·  john.miller@glps.com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Ship to: Chicago DC, IL 60639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1  SKU-CTG-4520  Catalog item A     100 EA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2  SKU-SEL-1150  Catalog item B     120 EA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Segoe UI"/>
              </a:rPr>
              <a:t>3  SKU-VLV-2201  Catalog item C      15 EA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3291840"/>
            <a:ext cx="4983480" cy="269748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56832" y="3291840"/>
            <a:ext cx="91440" cy="2697480"/>
          </a:xfrm>
          <a:prstGeom prst="rect">
            <a:avLst/>
          </a:prstGeom>
          <a:solidFill>
            <a:srgbClr val="35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4564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5C759"/>
                </a:solidFill>
                <a:latin typeface="Segoe UI"/>
              </a:rPr>
              <a:t>AUTOMATED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886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Subtotal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886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$3,083.00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343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Freight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3434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$151.62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800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B8B8C6"/>
                </a:solidFill>
                <a:latin typeface="Segoe UI"/>
              </a:rPr>
              <a:t>Tax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800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$271.79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5257800"/>
            <a:ext cx="4526280" cy="18288"/>
          </a:xfrm>
          <a:prstGeom prst="rect">
            <a:avLst/>
          </a:prstGeom>
          <a:solidFill>
            <a:srgbClr val="3C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E600"/>
                </a:solidFill>
                <a:latin typeface="Segoe UI"/>
              </a:rPr>
              <a:t>ORDER TOTAL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349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E600"/>
                </a:solidFill>
                <a:latin typeface="Segoe UI"/>
              </a:rPr>
              <a:t>$3,529.53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SCENARIO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CSR Approval Flow — five decision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A single PO engineered to trigger five gates. The AI investigates, presents a one-click choice, captures the decision, and resumes.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2148840" cy="27432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2148840" cy="914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2423160"/>
            <a:ext cx="502920" cy="502920"/>
          </a:xfrm>
          <a:prstGeom prst="ellipse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Obsolete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74903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B8B8C6"/>
                </a:solidFill>
                <a:latin typeface="Segoe UI"/>
              </a:rPr>
              <a:t>Line 1 SKU is obsolete — AI proposes approved substitutes with price impact.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4544568"/>
            <a:ext cx="1709928" cy="292608"/>
          </a:xfrm>
          <a:prstGeom prst="roundRect">
            <a:avLst>
              <a:gd name="adj" fmla="val 8000"/>
            </a:avLst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141E"/>
                </a:solidFill>
                <a:latin typeface="Segoe UI"/>
              </a:rPr>
              <a:t>INTAKE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2148840"/>
            <a:ext cx="2148840" cy="27432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7208" y="2148840"/>
            <a:ext cx="2148840" cy="914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63240" y="2423160"/>
            <a:ext cx="502920" cy="502920"/>
          </a:xfrm>
          <a:prstGeom prst="ellipse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0632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Invalid 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4" y="374903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B8B8C6"/>
                </a:solidFill>
                <a:latin typeface="Segoe UI"/>
              </a:rPr>
              <a:t>Line 4 quantity is 0 — CSR enters a valid, positive whole number (validated).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6664" y="4544568"/>
            <a:ext cx="1709928" cy="292608"/>
          </a:xfrm>
          <a:prstGeom prst="roundRect">
            <a:avLst>
              <a:gd name="adj" fmla="val 8000"/>
            </a:avLst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141E"/>
                </a:solidFill>
                <a:latin typeface="Segoe UI"/>
              </a:rPr>
              <a:t>INTAKE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5776" y="2148840"/>
            <a:ext cx="2148840" cy="27432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5776" y="2148840"/>
            <a:ext cx="2148840" cy="914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21808" y="2423160"/>
            <a:ext cx="502920" cy="502920"/>
          </a:xfrm>
          <a:prstGeom prst="ellipse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30632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UOM conversion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374903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B8B8C6"/>
                </a:solidFill>
                <a:latin typeface="Segoe UI"/>
              </a:rPr>
              <a:t>Line 5 ordered in EA but sold in KIT — CSR picks the kit quantity to fulfil.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85232" y="4544568"/>
            <a:ext cx="1709928" cy="292608"/>
          </a:xfrm>
          <a:prstGeom prst="roundRect">
            <a:avLst>
              <a:gd name="adj" fmla="val 8000"/>
            </a:avLst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141E"/>
                </a:solidFill>
                <a:latin typeface="Segoe UI"/>
              </a:rPr>
              <a:t>INTAKE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148840"/>
            <a:ext cx="2148840" cy="27432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4344" y="2148840"/>
            <a:ext cx="2148840" cy="9144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0375" y="2423160"/>
            <a:ext cx="502920" cy="502920"/>
          </a:xfrm>
          <a:prstGeom prst="ellipse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0632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Unresolved buyer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74903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B8B8C6"/>
                </a:solidFill>
                <a:latin typeface="Segoe UI"/>
              </a:rPr>
              <a:t>PO email isn't a registered buyer — CSR selects from the account's buyers.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4544568"/>
            <a:ext cx="1709928" cy="292608"/>
          </a:xfrm>
          <a:prstGeom prst="roundRect">
            <a:avLst>
              <a:gd name="adj" fmla="val 8000"/>
            </a:avLst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141E"/>
                </a:solidFill>
                <a:latin typeface="Segoe UI"/>
              </a:rPr>
              <a:t>INTAKE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2912" y="2148840"/>
            <a:ext cx="2148840" cy="27432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82912" y="2148840"/>
            <a:ext cx="2148840" cy="914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38944" y="2423160"/>
            <a:ext cx="502920" cy="50292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14141E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30632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Pricing / margin exception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374903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B8B8C6"/>
                </a:solidFill>
                <a:latin typeface="Segoe UI"/>
              </a:rPr>
              <a:t>Discount 21.5% exceeds the 10% family policy — CSR approves the override.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2368" y="4544568"/>
            <a:ext cx="1709928" cy="292608"/>
          </a:xfrm>
          <a:prstGeom prst="roundRect">
            <a:avLst>
              <a:gd name="adj" fmla="val 8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141E"/>
                </a:solidFill>
                <a:latin typeface="Segoe UI"/>
              </a:rPr>
              <a:t>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B8B8C6"/>
                </a:solidFill>
                <a:latin typeface="Segoe UI"/>
              </a:rPr>
              <a:t>Blue = INTAKE gates (data reconciliation)      Amber = PIPELINE gate (policy breach)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48640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486400"/>
            <a:ext cx="91440" cy="5669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5961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Approx. order total after CSR choices: </a:t>
            </a:r>
            <a:r>
              <a:rPr sz="1300" b="1" i="0">
                <a:solidFill>
                  <a:srgbClr val="FFE600"/>
                </a:solidFill>
                <a:latin typeface="Segoe UI"/>
              </a:rPr>
              <a:t>$10,659.50</a:t>
            </a:r>
            <a:r>
              <a:rPr sz="1200" b="0" i="0">
                <a:solidFill>
                  <a:srgbClr val="B8B8C6"/>
                </a:solidFill>
                <a:latin typeface="Segoe UI"/>
              </a:rPr>
              <a:t>   —   five multi-system lookups reduced to five one-click decisions.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Exception model &amp; escalation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91440" cy="210312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019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INTAKE GATES  —  data reconciliation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Obsolete / substitute SKU  ·  unresolved or missing SKU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Invalid quantity  ·  unit-of-measure conversion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Unresolved buyer  ·  partial / unresolved ship-to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73736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1737360"/>
            <a:ext cx="91440" cy="21031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019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B020"/>
                </a:solidFill>
                <a:latin typeface="Segoe UI"/>
              </a:rPr>
              <a:t>PIPELINE GATES  —  policy breach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3172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Pricing / margin-policy exception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Credit hold  ·  budget exceeded / approval required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8B8C6"/>
                </a:solidFill>
                <a:latin typeface="Segoe UI"/>
              </a:rPr>
              <a:t>Compliance restriction  ·  inventory / logistics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Every exception is routed to the responsible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81888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Product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406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FFE600"/>
                </a:solidFill>
                <a:latin typeface="Segoe UI"/>
              </a:rPr>
              <a:t>SKU / substitution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7208" y="461772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376" y="481888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Order Ops Supervisor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8376" y="54406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FFE600"/>
                </a:solidFill>
                <a:latin typeface="Segoe UI"/>
              </a:rPr>
              <a:t>Quantity / intake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5776" y="461772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4" y="481888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Sales Ops / Account Mgr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54406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FFE600"/>
                </a:solidFill>
                <a:latin typeface="Segoe UI"/>
              </a:rPr>
              <a:t>Buyer / ship-to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4344" y="461772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5512" y="481888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Pricing Desk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5512" y="54406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FFE600"/>
                </a:solidFill>
                <a:latin typeface="Segoe UI"/>
              </a:rPr>
              <a:t>Margin exception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2912" y="461772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4818888"/>
            <a:ext cx="1783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Credit / Approver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54406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FFE600"/>
                </a:solidFill>
                <a:latin typeface="Segoe UI"/>
              </a:rPr>
              <a:t>Credit &amp; budget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E600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"/>
              </a:rPr>
              <a:t>Built-in audit &amp;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2011680" cy="274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8A99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99"/>
                </a:solidFill>
                <a:latin typeface="Segoe UI"/>
              </a:rPr>
              <a:t>Order Assistant AI  ·  PO-to-Fulfillment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24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Every decision is captured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560320"/>
            <a:ext cx="146304" cy="146304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What the agent decided automatically from master data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182112"/>
            <a:ext cx="146304" cy="146304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1363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Why it paused for a CSR (the exception &amp; rationale)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803904"/>
            <a:ext cx="146304" cy="146304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758184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The exact action the CSR took (approve / pick / enter)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425696"/>
            <a:ext cx="146304" cy="146304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79976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The final outcome applied to the order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047488"/>
            <a:ext cx="146304" cy="146304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0176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B8B8C6"/>
                </a:solidFill>
                <a:latin typeface="Segoe UI"/>
              </a:rPr>
              <a:t>Step-by-step audit trail per decision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178308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1783080"/>
            <a:ext cx="5486400" cy="10972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011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E600"/>
                </a:solidFill>
                <a:latin typeface="Segoe U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84378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Consistent, policy-aligned decisions across all CSRs.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337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66674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Full lineage of automated and human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160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Continuous improvement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4897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Exception patterns reveal data &amp; policy gaps to fix.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983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Compliance-ready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53126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8B8C6"/>
                </a:solidFill>
                <a:latin typeface="Segoe UI"/>
              </a:rPr>
              <a:t>Defensible record for audits and disputes.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E600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Autonomous PO-to-Fulfillment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794760"/>
            <a:ext cx="2743200" cy="3657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B8B8C6"/>
                </a:solidFill>
                <a:latin typeface="Segoe UI"/>
              </a:rPr>
              <a:t>An intelligent orchestration platform for PO-to-fulfillment.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8A8A99"/>
                </a:solidFill>
                <a:latin typeface="Segoe UI"/>
              </a:rPr>
              <a:t>Faster orders, protected margins and governed decisions — with human judgement where it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