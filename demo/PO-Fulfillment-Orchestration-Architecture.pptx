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ORDER ASSISTANT AI  ·  FOR PURCHASE-ORDER FULFILLMENT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Autonomous Purchase Order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to Fulfillment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" y="39319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An intelligent Order Assistant AI that transforms every incoming purchase order — from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intake through to shipment — into a fast, accurate and self-validating workflow, powered by a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team of specialised AI agents, with human judgement applied only where it truly matters.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8A8A99"/>
                </a:solidFill>
                <a:latin typeface="Segoe UI"/>
              </a:rPr>
              <a:t>Business case  ·  Solution architecture  ·  The AI tool we built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BUSINESS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Business context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business need and problem, the solution approach, and the business impact.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NEED &amp;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From purchase order to shipment — the manual bottleneck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91440" cy="9144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64792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Segoe UI"/>
              </a:rPr>
              <a:t>The business receives a high volume of purchase orders from its customers as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email, PDF, Excel and scanned documents. Every order must be validated, priced, sourced and approved before it can ship — today that work lands on customer-service reps, order by order, line by 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8892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78892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29535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Constant product churn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335584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The catalog is continually refreshed and older SKUs are superseded. CSRs must catch obsolete items and find the approved replacement on every order.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78892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278892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6248" y="29535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Mixed units of measure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248" y="335584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Items sell in different units — each, kits and cases. Ordered quantities must be converted correctly or shipments and invoices go wrong.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343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34340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45079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Contract &amp; margin complexity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491032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Customer-specific contract pricing, promos and rebates — plus family-level discount / margin policies that must not be breached.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343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434340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45079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Account, credit &amp; approval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491032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Validating the customer account, the ordering buyer, credit limits and spend approvals — by hand, across multiple systems.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989320"/>
            <a:ext cx="11091672" cy="45720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606247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5A5A"/>
                </a:solidFill>
                <a:latin typeface="Segoe UI"/>
              </a:rPr>
              <a:t>Impact of the status quo:  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slow order turnaround, wrong-SKU shipments and returns, margin leakage, CSRs buried in lookups.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An Order Assistant AI with human-in-the-loop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B8B8C6"/>
                </a:solidFill>
                <a:latin typeface="Segoe UI"/>
              </a:rPr>
              <a:t>An orchestration engine runs a pipeline of specialist AI agents. Each agent makes master-data-driven decisions automatically and only pauses for a human when a decision is ambiguous or breaches policy.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423160"/>
            <a:ext cx="2670048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2807208"/>
            <a:ext cx="502920" cy="502920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Straight-through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Clean orders are validated, priced, sourced, planned and created with zero human touch.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2423160"/>
            <a:ext cx="2670048" cy="109728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30168" y="2807208"/>
            <a:ext cx="502920" cy="50292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7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Human-in-the-loop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Risky or ambiguous decisions pause the pipeline and hand off to a CSR, then resume automatically.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79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79" y="2423160"/>
            <a:ext cx="2670048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9088" y="2807208"/>
            <a:ext cx="502920" cy="502920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79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Master-data driven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Decisions come from governed master data — not hard-coded rules — so behaviour is transparent and tunable.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399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15399" y="2423160"/>
            <a:ext cx="2670048" cy="10972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08007" y="2807208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Fully auditable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1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Every automated and human decision is captured with its rationale for governance and traceability.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How the Order Assistant AI improves the business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5486400" cy="3154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5486400" cy="109728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9280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5A5A"/>
                </a:solidFill>
                <a:latin typeface="Segoe UI"/>
              </a:rPr>
              <a:t>TODAY  —  MANUAL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2377439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331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Minutes of multi-system lookups per line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2852927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280720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Obsolete SKUs slip through → returns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3328415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28269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Inconsistent discounting → margin leak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803903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3758183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Hard to scale at peak season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2336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Limited audit of who decided what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3912" y="1691640"/>
            <a:ext cx="5486400" cy="3154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3912" y="1691640"/>
            <a:ext cx="5486400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189280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5C759"/>
                </a:solidFill>
                <a:latin typeface="Segoe UI"/>
              </a:rPr>
              <a:t>WITH ORDER ASSISTANT AI</a:t>
            </a:r>
          </a:p>
        </p:txBody>
      </p:sp>
      <p:sp>
        <p:nvSpPr>
          <p:cNvPr id="25" name="Oval 24"/>
          <p:cNvSpPr/>
          <p:nvPr/>
        </p:nvSpPr>
        <p:spPr>
          <a:xfrm>
            <a:off x="6473952" y="2377439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331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Clean orders auto-processed end-to-end</a:t>
            </a:r>
          </a:p>
        </p:txBody>
      </p:sp>
      <p:sp>
        <p:nvSpPr>
          <p:cNvPr id="27" name="Oval 26"/>
          <p:cNvSpPr/>
          <p:nvPr/>
        </p:nvSpPr>
        <p:spPr>
          <a:xfrm>
            <a:off x="6473952" y="2852927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280720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Obsolete SKUs auto-flagged with approved substitute</a:t>
            </a:r>
          </a:p>
        </p:txBody>
      </p:sp>
      <p:sp>
        <p:nvSpPr>
          <p:cNvPr id="29" name="Oval 28"/>
          <p:cNvSpPr/>
          <p:nvPr/>
        </p:nvSpPr>
        <p:spPr>
          <a:xfrm>
            <a:off x="6473952" y="3328415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328269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Margin policy enforced on every line</a:t>
            </a:r>
          </a:p>
        </p:txBody>
      </p:sp>
      <p:sp>
        <p:nvSpPr>
          <p:cNvPr id="31" name="Oval 30"/>
          <p:cNvSpPr/>
          <p:nvPr/>
        </p:nvSpPr>
        <p:spPr>
          <a:xfrm>
            <a:off x="6473952" y="3803903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3758183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Scales elastically with order volume</a:t>
            </a:r>
          </a:p>
        </p:txBody>
      </p:sp>
      <p:sp>
        <p:nvSpPr>
          <p:cNvPr id="33" name="Oval 32"/>
          <p:cNvSpPr/>
          <p:nvPr/>
        </p:nvSpPr>
        <p:spPr>
          <a:xfrm>
            <a:off x="6473952" y="4279392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0840" y="42336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Every decision captured for 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074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Business outcomes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Faster order turnaround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07208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Fewer returns &amp; wrong shipments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07208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65776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Protected margins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65776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24344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Higher CSR productivity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24344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582912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Consistent, governed decisions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82912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SOLUTION ARCHITECTURE &amp;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Solution architecture &amp;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reference architecture, the runtime component &amp; data-flow view, the process flow, and the request sequence.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Solution architecture — layered reference 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1536192" cy="5486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INTERACTION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73152" cy="5486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12848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Email PO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78224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PDF PO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Excel 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Scanned 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50008"/>
            <a:ext cx="1536192" cy="56692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EXPERIENCE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LAYER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350008"/>
            <a:ext cx="73152" cy="566928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12848" y="2350008"/>
            <a:ext cx="733348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CSR Workspace &amp; Console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PO intake  ·  live agent panels  ·  one-click decisions  ·  audit viewer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26664"/>
            <a:ext cx="1536192" cy="1060704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AI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026664"/>
            <a:ext cx="73152" cy="10607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12848" y="3026664"/>
            <a:ext cx="7333488" cy="1060704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081528"/>
            <a:ext cx="7059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E600"/>
                </a:solidFill>
                <a:latin typeface="Segoe UI"/>
              </a:rPr>
              <a:t>Orchestrator  —  resumable pipeline / state machine  (pause on exception · resume on decision)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5000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4248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3496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2744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Promo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1992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1240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0488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9736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984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Execution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197096"/>
            <a:ext cx="1536192" cy="56692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DOMAIN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SERVICES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197096"/>
            <a:ext cx="73152" cy="56692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212848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Pricing engine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56432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Credit service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00016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Inventory / ATP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0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Logistics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87183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Compliance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0767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Budget / approval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873752"/>
            <a:ext cx="1536192" cy="93268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DATA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INTEGRATION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873752"/>
            <a:ext cx="73152" cy="93268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212848" y="4873752"/>
            <a:ext cx="4709160" cy="93268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22576" y="4919472"/>
            <a:ext cx="4480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MASTER-DATA FOUNDATION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22576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Customer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58718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Buyer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94860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Product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31002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Pricing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22576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Credit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58718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Inventory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94860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Logistics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731002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Budget/Comp.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077456" y="4873752"/>
            <a:ext cx="2468879" cy="93268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87184" y="4919472"/>
            <a:ext cx="23042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INTEGRATION ADAPTERS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87184" y="5148072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ERP / Order Mgmt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87184" y="5358384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Email / SMTP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87184" y="5568696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Audit store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747504" y="1691640"/>
            <a:ext cx="1892807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747504" y="1691640"/>
            <a:ext cx="1892807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75520" y="1828800"/>
            <a:ext cx="1636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CROSS-CUTTING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875520" y="2139696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Exception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Governance &amp; routing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75520" y="3035808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Audit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875520" y="3931920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Security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Access control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75520" y="4828031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Observability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&amp; Logging</a:t>
            </a:r>
          </a:p>
        </p:txBody>
      </p:sp>
      <p:sp>
        <p:nvSpPr>
          <p:cNvPr id="63" name="Down Arrow 62"/>
          <p:cNvSpPr/>
          <p:nvPr/>
        </p:nvSpPr>
        <p:spPr>
          <a:xfrm>
            <a:off x="1179576" y="2258568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own Arrow 63"/>
          <p:cNvSpPr/>
          <p:nvPr/>
        </p:nvSpPr>
        <p:spPr>
          <a:xfrm>
            <a:off x="1179576" y="2926080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Down Arrow 64"/>
          <p:cNvSpPr/>
          <p:nvPr/>
        </p:nvSpPr>
        <p:spPr>
          <a:xfrm>
            <a:off x="1179576" y="4096512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Down Arrow 65"/>
          <p:cNvSpPr/>
          <p:nvPr/>
        </p:nvSpPr>
        <p:spPr>
          <a:xfrm>
            <a:off x="1179576" y="4773168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1">
                <a:solidFill>
                  <a:srgbClr val="FFE600"/>
                </a:solidFill>
                <a:latin typeface="Segoe UI"/>
              </a:rPr>
              <a:t>Logical reference architecture.  </a:t>
            </a:r>
            <a:r>
              <a:rPr sz="950" b="0" i="1">
                <a:solidFill>
                  <a:srgbClr val="8A8A99"/>
                </a:solidFill>
                <a:latin typeface="Segoe UI"/>
              </a:rPr>
              <a:t>Governed master data drives every decision; the platform integrates with enterprise ERP / MDM, identity and cloud services.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RUNTIME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Component &amp; data-flow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2331720" cy="14630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874519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E600"/>
                </a:solidFill>
                <a:latin typeface="Segoe UI"/>
              </a:rPr>
              <a:t>CUSTOMER INTERACTION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212848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Email PO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468880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PDF PO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724912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Excel 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980944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Scanned 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1783080"/>
            <a:ext cx="5806440" cy="8686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874519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EXPERIENCE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139696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CSR Workspace &amp; Console  (intake · live agent panels · one-click decisions · audit)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1783080"/>
            <a:ext cx="2240280" cy="36118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37192" y="1874519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INTEGRATIONS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37192" y="224028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ERP / Order Mgmt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37192" y="274320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Email / SMTP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37192" y="324612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Approval routing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37192" y="374904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Audit store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46120" y="2926080"/>
            <a:ext cx="5806440" cy="24688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46120" y="2926080"/>
            <a:ext cx="5806440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29000" y="305409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E600"/>
                </a:solidFill>
                <a:latin typeface="Segoe UI"/>
              </a:rPr>
              <a:t>ORCHESTRATION ENGINE</a:t>
            </a:r>
            <a:r>
              <a:rPr sz="900" b="0" i="1">
                <a:solidFill>
                  <a:srgbClr val="8A8A99"/>
                </a:solidFill>
                <a:latin typeface="Segoe UI"/>
              </a:rPr>
              <a:t>   (resumable pipeline / state machine)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0156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PO Extractor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6752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Intake Resolver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3348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Account Validator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0156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Decision Pipeline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(9 agents)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6752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Exception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3348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Execution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46120" y="5623560"/>
            <a:ext cx="5806440" cy="6858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29000" y="56875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MASTER-DATA FOUNDATION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9000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Customer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9372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Buyer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09744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Product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00116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Pricing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90488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Credit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80860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Inventory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71232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Logistics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61604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Budget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880360" y="2395728"/>
            <a:ext cx="365760" cy="0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126480" y="2651760"/>
            <a:ext cx="0" cy="27432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126480" y="5394960"/>
            <a:ext cx="0" cy="22860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052560" y="3931920"/>
            <a:ext cx="320040" cy="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4864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8A8A99"/>
                </a:solidFill>
                <a:latin typeface="Segoe UI"/>
              </a:rPr>
              <a:t>Data-driven decisions read governed master data; results &amp; exceptions flow back to the CSR and out to ERP / email.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PROCESS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Process flowchart — end to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36192"/>
            <a:ext cx="685800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3677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E600"/>
                </a:solidFill>
                <a:latin typeface="Segoe UI"/>
              </a:rPr>
              <a:t>PO INTAKE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57400" y="1609344"/>
            <a:ext cx="1188720" cy="31089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Email PO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609344"/>
            <a:ext cx="1188720" cy="31089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PDF PO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54296" y="1609344"/>
            <a:ext cx="1188720" cy="31089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Excel 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52744" y="1609344"/>
            <a:ext cx="1188720" cy="31089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Scanned PO</a:t>
            </a:r>
          </a:p>
        </p:txBody>
      </p:sp>
      <p:sp>
        <p:nvSpPr>
          <p:cNvPr id="15" name="Process 14"/>
          <p:cNvSpPr/>
          <p:nvPr/>
        </p:nvSpPr>
        <p:spPr>
          <a:xfrm>
            <a:off x="1554480" y="2212848"/>
            <a:ext cx="3657600" cy="402336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Intake — digitise &amp; extract PO</a:t>
            </a:r>
          </a:p>
        </p:txBody>
      </p:sp>
      <p:sp>
        <p:nvSpPr>
          <p:cNvPr id="16" name="Process 15"/>
          <p:cNvSpPr/>
          <p:nvPr/>
        </p:nvSpPr>
        <p:spPr>
          <a:xfrm>
            <a:off x="1554480" y="2724912"/>
            <a:ext cx="3657600" cy="402336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Reconcile every line vs master data</a:t>
            </a:r>
          </a:p>
        </p:txBody>
      </p:sp>
      <p:sp>
        <p:nvSpPr>
          <p:cNvPr id="17" name="Decision 16"/>
          <p:cNvSpPr/>
          <p:nvPr/>
        </p:nvSpPr>
        <p:spPr>
          <a:xfrm>
            <a:off x="1554480" y="3236976"/>
            <a:ext cx="3657600" cy="676656"/>
          </a:xfrm>
          <a:prstGeom prst="flowChartDecision">
            <a:avLst/>
          </a:prstGeom>
          <a:solidFill>
            <a:srgbClr val="242433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Intake issues?  (obsolete SKU · qty · UOM · buyer)</a:t>
            </a:r>
          </a:p>
        </p:txBody>
      </p:sp>
      <p:sp>
        <p:nvSpPr>
          <p:cNvPr id="18" name="Process 17"/>
          <p:cNvSpPr/>
          <p:nvPr/>
        </p:nvSpPr>
        <p:spPr>
          <a:xfrm>
            <a:off x="1554480" y="4041648"/>
            <a:ext cx="3657600" cy="402336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Validate customer, buyer &amp; product match</a:t>
            </a:r>
          </a:p>
        </p:txBody>
      </p:sp>
      <p:sp>
        <p:nvSpPr>
          <p:cNvPr id="19" name="Process 18"/>
          <p:cNvSpPr/>
          <p:nvPr/>
        </p:nvSpPr>
        <p:spPr>
          <a:xfrm>
            <a:off x="1554480" y="4553712"/>
            <a:ext cx="3657600" cy="402336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Price · credit · inventory · logistics checks</a:t>
            </a:r>
          </a:p>
        </p:txBody>
      </p:sp>
      <p:sp>
        <p:nvSpPr>
          <p:cNvPr id="20" name="Decision 19"/>
          <p:cNvSpPr/>
          <p:nvPr/>
        </p:nvSpPr>
        <p:spPr>
          <a:xfrm>
            <a:off x="1554480" y="5065776"/>
            <a:ext cx="3657600" cy="676656"/>
          </a:xfrm>
          <a:prstGeom prst="flowChartDecision">
            <a:avLst/>
          </a:prstGeom>
          <a:solidFill>
            <a:srgbClr val="242433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Policy / approval exception?  (margin · credit · budget)</a:t>
            </a:r>
          </a:p>
        </p:txBody>
      </p:sp>
      <p:sp>
        <p:nvSpPr>
          <p:cNvPr id="21" name="Terminator 20"/>
          <p:cNvSpPr/>
          <p:nvPr/>
        </p:nvSpPr>
        <p:spPr>
          <a:xfrm>
            <a:off x="1554480" y="5870448"/>
            <a:ext cx="3657600" cy="420624"/>
          </a:xfrm>
          <a:prstGeom prst="flowChartTerminator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4141E"/>
                </a:solidFill>
                <a:latin typeface="Segoe UI"/>
              </a:rPr>
              <a:t>Sales order created  ·  notify  ·  audit trail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2249424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HUMAN-IN-THE-LOOP  ·  CSR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54203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1">
                <a:solidFill>
                  <a:srgbClr val="B8B8C6"/>
                </a:solidFill>
                <a:latin typeface="Segoe UI"/>
              </a:rPr>
              <a:t>Blue = intake resolution    Amber = approval    Red = stop</a:t>
            </a:r>
          </a:p>
        </p:txBody>
      </p:sp>
      <p:sp>
        <p:nvSpPr>
          <p:cNvPr id="24" name="Process 23"/>
          <p:cNvSpPr/>
          <p:nvPr/>
        </p:nvSpPr>
        <p:spPr>
          <a:xfrm>
            <a:off x="7680960" y="3236976"/>
            <a:ext cx="3931920" cy="676656"/>
          </a:xfrm>
          <a:prstGeom prst="flowChartProcess">
            <a:avLst/>
          </a:prstGeom>
          <a:solidFill>
            <a:srgbClr val="242433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resolves the gate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substitute · qty · UOM · buyer pick</a:t>
            </a:r>
          </a:p>
        </p:txBody>
      </p:sp>
      <p:sp>
        <p:nvSpPr>
          <p:cNvPr id="25" name="Process 24"/>
          <p:cNvSpPr/>
          <p:nvPr/>
        </p:nvSpPr>
        <p:spPr>
          <a:xfrm>
            <a:off x="7680960" y="5065776"/>
            <a:ext cx="3931920" cy="676656"/>
          </a:xfrm>
          <a:prstGeom prst="flowChartProcess">
            <a:avLst/>
          </a:prstGeom>
          <a:solidFill>
            <a:srgbClr val="242433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decides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Approve · Reject · Escalate</a:t>
            </a:r>
          </a:p>
        </p:txBody>
      </p:sp>
      <p:sp>
        <p:nvSpPr>
          <p:cNvPr id="26" name="Terminator 25"/>
          <p:cNvSpPr/>
          <p:nvPr/>
        </p:nvSpPr>
        <p:spPr>
          <a:xfrm>
            <a:off x="7680960" y="5870448"/>
            <a:ext cx="3931920" cy="420624"/>
          </a:xfrm>
          <a:prstGeom prst="flowChartTerminator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Order stopped / routed to responsible team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3227832" y="1993392"/>
            <a:ext cx="310896" cy="18288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383280" y="2615184"/>
            <a:ext cx="0" cy="109728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383280" y="3127248"/>
            <a:ext cx="0" cy="109728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3383280" y="3913632"/>
            <a:ext cx="0" cy="128016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474720" y="39227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B8B8C6"/>
                </a:solidFill>
                <a:latin typeface="Segoe UI"/>
              </a:rPr>
              <a:t>No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383280" y="4443984"/>
            <a:ext cx="0" cy="109728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383280" y="4956048"/>
            <a:ext cx="0" cy="109728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383280" y="5742432"/>
            <a:ext cx="0" cy="128016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474720" y="57515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B8B8C6"/>
                </a:solidFill>
                <a:latin typeface="Segoe UI"/>
              </a:rPr>
              <a:t>No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212080" y="3575304"/>
            <a:ext cx="2468880" cy="0"/>
          </a:xfrm>
          <a:prstGeom prst="line">
            <a:avLst/>
          </a:prstGeom>
          <a:ln w="19050">
            <a:solidFill>
              <a:srgbClr val="4A9E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285232" y="3346704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4A9EFF"/>
                </a:solidFill>
                <a:latin typeface="Segoe UI"/>
              </a:rPr>
              <a:t>Yes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6035040" y="3794760"/>
            <a:ext cx="1645920" cy="0"/>
          </a:xfrm>
          <a:prstGeom prst="line">
            <a:avLst/>
          </a:prstGeom>
          <a:ln w="19050">
            <a:solidFill>
              <a:srgbClr val="4A9E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35040" y="3794760"/>
            <a:ext cx="0" cy="448056"/>
          </a:xfrm>
          <a:prstGeom prst="line">
            <a:avLst/>
          </a:prstGeom>
          <a:ln w="19050">
            <a:solidFill>
              <a:srgbClr val="4A9E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5212080" y="4242816"/>
            <a:ext cx="822960" cy="0"/>
          </a:xfrm>
          <a:prstGeom prst="line">
            <a:avLst/>
          </a:prstGeom>
          <a:ln w="19050">
            <a:solidFill>
              <a:srgbClr val="4A9E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440680" y="3602736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4A9EFF"/>
                </a:solidFill>
                <a:latin typeface="Segoe UI"/>
              </a:rPr>
              <a:t>resolved → continue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212080" y="5404104"/>
            <a:ext cx="2468880" cy="0"/>
          </a:xfrm>
          <a:prstGeom prst="line">
            <a:avLst/>
          </a:prstGeom>
          <a:ln w="19050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285232" y="5175504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B020"/>
                </a:solidFill>
                <a:latin typeface="Segoe UI"/>
              </a:rPr>
              <a:t>Yes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6035040" y="5623560"/>
            <a:ext cx="1645920" cy="0"/>
          </a:xfrm>
          <a:prstGeom prst="line">
            <a:avLst/>
          </a:prstGeom>
          <a:ln w="19050">
            <a:solidFill>
              <a:srgbClr val="FFB0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035040" y="5623560"/>
            <a:ext cx="0" cy="457200"/>
          </a:xfrm>
          <a:prstGeom prst="line">
            <a:avLst/>
          </a:prstGeom>
          <a:ln w="19050">
            <a:solidFill>
              <a:srgbClr val="FFB0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5212080" y="6080760"/>
            <a:ext cx="822960" cy="0"/>
          </a:xfrm>
          <a:prstGeom prst="line">
            <a:avLst/>
          </a:prstGeom>
          <a:ln w="19050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440680" y="6089904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FFB020"/>
                </a:solidFill>
                <a:latin typeface="Segoe UI"/>
              </a:rPr>
              <a:t>approve → continue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646920" y="5742432"/>
            <a:ext cx="0" cy="128016"/>
          </a:xfrm>
          <a:prstGeom prst="line">
            <a:avLst/>
          </a:prstGeom>
          <a:ln w="19050">
            <a:solidFill>
              <a:srgbClr val="FF5A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738360" y="5742432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reject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INTERACTION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Sequence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/ Buyer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7160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377439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Workspace UI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4612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251959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Orchestrator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12064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2648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Specialist Agents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9516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00100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Master Data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6968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87552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ERP / Email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74420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371600" y="260604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371600" y="235915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1. Submit PO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46120" y="292608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246120" y="267919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2. start(po)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120640" y="324612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120640" y="2999232"/>
            <a:ext cx="1874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3. run intake + pipeline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95160" y="356616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95160" y="331927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4. lookup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6995160" y="3886200"/>
            <a:ext cx="187452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995160" y="363931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5. records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5120640" y="4206240"/>
            <a:ext cx="187452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120640" y="3959352"/>
            <a:ext cx="1874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6. results / exceptions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94560" y="4434840"/>
            <a:ext cx="3977639" cy="1051560"/>
          </a:xfrm>
          <a:prstGeom prst="rect">
            <a:avLst/>
          </a:prstGeom>
          <a:noFill/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194560" y="4434840"/>
            <a:ext cx="1371600" cy="256032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14141E"/>
                </a:solidFill>
                <a:latin typeface="Segoe UI"/>
              </a:rPr>
              <a:t>alt  [exception]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3246120" y="4846320"/>
            <a:ext cx="1874520" cy="0"/>
          </a:xfrm>
          <a:prstGeom prst="line">
            <a:avLst/>
          </a:prstGeom>
          <a:ln w="15875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246120" y="4599431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7. CSR DECISION NEEDED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371600" y="5138928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371600" y="4892040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8. decision (pick / enter / approve)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46120" y="5413248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246120" y="5166360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9. resume(decision)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120640" y="5760720"/>
            <a:ext cx="562356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120640" y="5513831"/>
            <a:ext cx="5623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10. create order / notify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5120640" y="6035040"/>
            <a:ext cx="562356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120640" y="5788152"/>
            <a:ext cx="5623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11. order # / ack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8A8A99"/>
                </a:solidFill>
                <a:latin typeface="Segoe UI"/>
              </a:rPr>
              <a:t>The exception block (7–9) repeats per gate; clean orders skip it entirely (straight-through).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THE AI TOOL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The AI tool we built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agents, the master-data foundation, the pipeline, the two processing paths, governance and technology.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The AI agent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Intake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Digitises the raw PO, extracts header/buyer/ship-to/lines, and reconciles every line against master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Obsolete SKU · bad qty · UOM · unknown buyer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Customer Validation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Resolves customer &amp; account hierarchy, validates ship-to, and authorises the buyer.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Account · ship-to · buyer authority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5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Product Matching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Confirms each SKU against the catalog and runs the compliance sub-check.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Catalog match · compliance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Pricing &amp; Promo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Builds the price waterfall (list → contract → tier → promo → rebate → net) and totals.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Margin / discount policy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9392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9392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35424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Credit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5424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Checks order value against available credit and payment terms.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5424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Credit limit · terms · risk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10144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10144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66175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Inventory Agent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6175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Sources each line across distribution centres and confirms availability.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6175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ATP · allocation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Shipments Agent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Confirms carrier serviceability, freight and delivery SLA.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Fulfillment plan · ETA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79392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79392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35424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Approvals Agent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35424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Runs the approval-matrix / budget check last, before execution.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35424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Budget · self-approval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10144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10144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66175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Order Execution Agent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66175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Creates the sales order and emits the completion record.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66175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Order created · audit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Master data drives every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B8B8C6"/>
                </a:solidFill>
                <a:latin typeface="Segoe UI"/>
              </a:rPr>
              <a:t>Each agent reads governed master data sourced from the enterprise systems of record. Change the data, not the code, to change behaviour.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808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2144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Customer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Account hierarchy, tiers, buying history, fulfillment rules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80559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6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Buyer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2896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Buyer profiles, roles, permissions, product-family access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11312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13648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Product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Catalog, lifecycle status, substitutes, UOM conversions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9808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2144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Pricing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Price lists, contracts, volume tiers, promos, rebates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9392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80559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82896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2896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Credit limits, available credit, payment terms, risk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10144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11312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13648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3648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Plant / DC stock, in-transit, ATP, allocation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49808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52144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Logistics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Carriers, serviceability, freight, delivery SLA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79392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480559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82896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Budget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82896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Cost-centre budgets, approval matrix, buyer authority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10144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211312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13648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Compliance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13648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Regional restrictions, approvals, required documents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239512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49808" y="5513832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52144" y="5367528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2144" y="569671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Exception routing, escalation targets, SLAs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The orchestration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Sequential decision layers thread a shared context. The pipeline pauses on the first exception and resumes after the CSR decides.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1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11" name="Chevron 10"/>
          <p:cNvSpPr/>
          <p:nvPr/>
        </p:nvSpPr>
        <p:spPr>
          <a:xfrm>
            <a:off x="171907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994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2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13" name="Chevron 12"/>
          <p:cNvSpPr/>
          <p:nvPr/>
        </p:nvSpPr>
        <p:spPr>
          <a:xfrm>
            <a:off x="302209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7296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3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15" name="Chevron 14"/>
          <p:cNvSpPr/>
          <p:nvPr/>
        </p:nvSpPr>
        <p:spPr>
          <a:xfrm>
            <a:off x="432511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7598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Promo</a:t>
            </a:r>
          </a:p>
        </p:txBody>
      </p:sp>
      <p:sp>
        <p:nvSpPr>
          <p:cNvPr id="17" name="Chevron 16"/>
          <p:cNvSpPr/>
          <p:nvPr/>
        </p:nvSpPr>
        <p:spPr>
          <a:xfrm>
            <a:off x="562813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7900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5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19" name="Chevron 18"/>
          <p:cNvSpPr/>
          <p:nvPr/>
        </p:nvSpPr>
        <p:spPr>
          <a:xfrm>
            <a:off x="693115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8202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6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1" name="Chevron 20"/>
          <p:cNvSpPr/>
          <p:nvPr/>
        </p:nvSpPr>
        <p:spPr>
          <a:xfrm>
            <a:off x="823417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8504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3" name="Chevron 22"/>
          <p:cNvSpPr/>
          <p:nvPr/>
        </p:nvSpPr>
        <p:spPr>
          <a:xfrm>
            <a:off x="953719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88067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8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10090404" y="3291839"/>
            <a:ext cx="365760" cy="29260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863840" y="3611880"/>
            <a:ext cx="3767328" cy="65836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Order Execution Agent  ·  create order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611880"/>
            <a:ext cx="7040880" cy="65836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B8B8C6"/>
                </a:solidFill>
                <a:latin typeface="Segoe UI"/>
              </a:rPr>
              <a:t>Exception Governance &amp; Routing  —  runs on every order (records + routes exceptions)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709160"/>
            <a:ext cx="73152" cy="13716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Pauses on first exception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The pipeline stops at the layer that needs a decision — nothing downstream runs on bad data.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9392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79392" y="4709160"/>
            <a:ext cx="73152" cy="137160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35424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Resumes automatically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35424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Once the CSR decides, the shared context is updated and the pipeline continues from where it paused.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10144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10144" y="4709160"/>
            <a:ext cx="73152" cy="13716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66175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Approvals run last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5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Budget / approval-matrix check runs only after product, pricing, credit, inventory and logistics pass.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One engine, two paths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5440680" cy="118872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35C759"/>
                </a:solidFill>
                <a:latin typeface="Segoe UI"/>
              </a:rPr>
              <a:t>HAPPY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Straight-through processing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02666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9718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Clean PO, no ambiguity or policy breach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52958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474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Every agent validates &amp; passes automatically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032503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97763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Zero human intervention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453542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4805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Order created in a single pass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503834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9834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Full audit trail produced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532120"/>
            <a:ext cx="4846320" cy="3840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Outcome:  order created with no CSR touch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178308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440680" cy="118872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B020"/>
                </a:solidFill>
                <a:latin typeface="Segoe UI"/>
              </a:rPr>
              <a:t>CSR APPROVAL 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23774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Human-in-the-loop</a:t>
            </a:r>
          </a:p>
        </p:txBody>
      </p:sp>
      <p:sp>
        <p:nvSpPr>
          <p:cNvPr id="28" name="Oval 27"/>
          <p:cNvSpPr/>
          <p:nvPr/>
        </p:nvSpPr>
        <p:spPr>
          <a:xfrm>
            <a:off x="6519672" y="302666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29718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AI auto-resolves everything it can from data</a:t>
            </a:r>
          </a:p>
        </p:txBody>
      </p:sp>
      <p:sp>
        <p:nvSpPr>
          <p:cNvPr id="30" name="Oval 29"/>
          <p:cNvSpPr/>
          <p:nvPr/>
        </p:nvSpPr>
        <p:spPr>
          <a:xfrm>
            <a:off x="6519672" y="352958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93992" y="3474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Ambiguous / policy-breaching items PAUSE</a:t>
            </a:r>
          </a:p>
        </p:txBody>
      </p:sp>
      <p:sp>
        <p:nvSpPr>
          <p:cNvPr id="32" name="Oval 31"/>
          <p:cNvSpPr/>
          <p:nvPr/>
        </p:nvSpPr>
        <p:spPr>
          <a:xfrm>
            <a:off x="6519672" y="4032503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93992" y="397763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CSR gets a pre-investigated, one-click decision</a:t>
            </a:r>
          </a:p>
        </p:txBody>
      </p:sp>
      <p:sp>
        <p:nvSpPr>
          <p:cNvPr id="34" name="Oval 33"/>
          <p:cNvSpPr/>
          <p:nvPr/>
        </p:nvSpPr>
        <p:spPr>
          <a:xfrm>
            <a:off x="6519672" y="453542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93992" y="44805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Guardrails validate every manual entry</a:t>
            </a:r>
          </a:p>
        </p:txBody>
      </p:sp>
      <p:sp>
        <p:nvSpPr>
          <p:cNvPr id="36" name="Oval 35"/>
          <p:cNvSpPr/>
          <p:nvPr/>
        </p:nvSpPr>
        <p:spPr>
          <a:xfrm>
            <a:off x="6519672" y="503834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93992" y="49834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Pipeline resumes automatically after each gate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5532120"/>
            <a:ext cx="4846320" cy="3840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Outcome:  CSR decides only the exceptions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SCENARIO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Happy Flow — straight-through processing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Submit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PO</a:t>
            </a:r>
          </a:p>
        </p:txBody>
      </p:sp>
      <p:sp>
        <p:nvSpPr>
          <p:cNvPr id="10" name="Chevron 9"/>
          <p:cNvSpPr/>
          <p:nvPr/>
        </p:nvSpPr>
        <p:spPr>
          <a:xfrm>
            <a:off x="157276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64134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extract + review</a:t>
            </a:r>
          </a:p>
        </p:txBody>
      </p:sp>
      <p:sp>
        <p:nvSpPr>
          <p:cNvPr id="12" name="Chevron 11"/>
          <p:cNvSpPr/>
          <p:nvPr/>
        </p:nvSpPr>
        <p:spPr>
          <a:xfrm>
            <a:off x="264718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1576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372160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9018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16" name="Chevron 15"/>
          <p:cNvSpPr/>
          <p:nvPr/>
        </p:nvSpPr>
        <p:spPr>
          <a:xfrm>
            <a:off x="479602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6460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Pricing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044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3902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0" name="Chevron 19"/>
          <p:cNvSpPr/>
          <p:nvPr/>
        </p:nvSpPr>
        <p:spPr>
          <a:xfrm>
            <a:off x="694486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1344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2" name="Chevron 21"/>
          <p:cNvSpPr/>
          <p:nvPr/>
        </p:nvSpPr>
        <p:spPr>
          <a:xfrm>
            <a:off x="801928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87867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4" name="Chevron 23"/>
          <p:cNvSpPr/>
          <p:nvPr/>
        </p:nvSpPr>
        <p:spPr>
          <a:xfrm>
            <a:off x="909370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6228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26" name="Chevron 25"/>
          <p:cNvSpPr/>
          <p:nvPr/>
        </p:nvSpPr>
        <p:spPr>
          <a:xfrm>
            <a:off x="1016812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23670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4141E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4141E"/>
                </a:solidFill>
                <a:latin typeface="Segoe UI"/>
              </a:rPr>
              <a:t>Created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8346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All checks pass automatically — no </a:t>
            </a:r>
            <a:r>
              <a:rPr sz="1200" b="1" i="0">
                <a:solidFill>
                  <a:srgbClr val="35C759"/>
                </a:solidFill>
                <a:latin typeface="Segoe UI"/>
              </a:rPr>
              <a:t>CSR DECISION NEEDED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 banners appear.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291840"/>
            <a:ext cx="5943600" cy="26974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4564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EXAMPLE PO  —  PO-2026-30001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840480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Great Lakes Supply Co  ·  john.miller@glps.com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Ship to: Chicago DC, IL 60639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1  SKU-CTG-4520  Catalog item A     100 EA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2  SKU-SEL-1150  Catalog item B     120 EA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3  SKU-VLV-2201  Catalog item C      15 EA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56832" y="3291840"/>
            <a:ext cx="4983480" cy="26974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56832" y="3291840"/>
            <a:ext cx="91440" cy="269748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45643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5C759"/>
                </a:solidFill>
                <a:latin typeface="Segoe UI"/>
              </a:rPr>
              <a:t>AUTOMATED RESULT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38862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Subtotal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8862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$3,083.00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43434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Freight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43434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$151.62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4800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Tax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8006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$271.79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03720" y="5257800"/>
            <a:ext cx="4526280" cy="18288"/>
          </a:xfrm>
          <a:prstGeom prst="rect">
            <a:avLst/>
          </a:prstGeom>
          <a:solidFill>
            <a:srgbClr val="3C3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03720" y="53492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ORDER TOTAL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53492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E600"/>
                </a:solidFill>
                <a:latin typeface="Segoe UI"/>
              </a:rPr>
              <a:t>$3,529.53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SCENARIO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CSR Approval Flow — five decision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 single PO engineered to trigger five gates. The AI investigates, presents a one-click choice, captures the decision, and resumes.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4672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Obsolete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1 SKU is obsolete — AI proposes approved substitutes with price impact.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07208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07208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63240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6664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Invalid quantity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6664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4 quantity is 0 — CSR enters a valid, positive whole number (validated).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26664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65776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65776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21808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2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UOM conversion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2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5 ordered in EA but sold in KIT — CSR picks the kit quantity to fulfil.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85232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24344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24344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580375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Unresolved buyer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PO email isn't a registered buyer — CSR selects from the account's buyers.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43800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82912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82912" y="2148840"/>
            <a:ext cx="2148840" cy="9144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838944" y="2423160"/>
            <a:ext cx="502920" cy="50292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2368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Pricing / margin exception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02368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Discount 21.5% exceeds the 10% family policy — CSR approves the override.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02368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PIPELINE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B8B8C6"/>
                </a:solidFill>
                <a:latin typeface="Segoe UI"/>
              </a:rPr>
              <a:t>Blue = INTAKE gates (data reconciliation)      Amber = PIPELINE gate (policy breach)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486400"/>
            <a:ext cx="11091672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5486400"/>
            <a:ext cx="91440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5961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Approx. order total after CSR choices: </a:t>
            </a:r>
            <a:r>
              <a:rPr sz="1300" b="1" i="0">
                <a:solidFill>
                  <a:srgbClr val="FFE600"/>
                </a:solidFill>
                <a:latin typeface="Segoe UI"/>
              </a:rPr>
              <a:t>$10,659.50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   —   five multi-system lookups reduced to five one-click decisions.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Exception model &amp; escalation routing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3736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37360"/>
            <a:ext cx="91440" cy="21031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0195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4A9EFF"/>
                </a:solidFill>
                <a:latin typeface="Segoe UI"/>
              </a:rPr>
              <a:t>INTAKE GATES  —  data reconciliation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31720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Obsolete / substitute SKU  ·  unresolved or missing SKU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Invalid quantity  ·  unit-of-measure conversion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Unresolved buyer  ·  partial / unresolved ship-to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3912" y="173736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3912" y="1737360"/>
            <a:ext cx="91440" cy="210312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90195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B020"/>
                </a:solidFill>
                <a:latin typeface="Segoe UI"/>
              </a:rPr>
              <a:t>PIPELINE GATES  —  policy breach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331720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Pricing / margin-policy exception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Credit hold  ·  budget exceeded / approval required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Compliance restriction  ·  inventory / logistics constraints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Every exception is routed to the responsible team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Product Specialist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SKU / substitution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07208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08376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Order Ops Supervisor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08376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Quantity / intake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65776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66944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Sales Ops / Account Mgr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6944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Buyer / ship-to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24344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Pricing Desk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Margin exception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82912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0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Credit / Approver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Credit &amp; budget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Built-in audit &amp; governance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659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Every decision is captured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560320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146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What the agent decided automatically from master data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182112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13639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Why it paused for a CSR (the exception &amp; rationale)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803904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75818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The exact action the CSR took (approve / pick / enter)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425696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37997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The final outcome applied to the order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5047488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00176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Step-by-step audit trail per decision layer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178308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912" y="1783080"/>
            <a:ext cx="5486400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20116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WHY IT MATTERS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25146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284378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Consistent, policy-aligned decisions across all CSRs.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2" y="3337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366674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Full lineage of automated and human decisions.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2" y="41605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Continuous improvement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448970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Exception patterns reveal data &amp; policy gaps to fix.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49834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Compliance-ready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531266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Defensible record for audits and disputes.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Autonomous PO-to-Fulfillment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" y="379476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An intelligent orchestration platform for PO-to-fulfillment.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8A8A99"/>
                </a:solidFill>
                <a:latin typeface="Segoe UI"/>
              </a:rPr>
              <a:t>Faster orders, protected margins and governed decisions — with human judgement where it matters.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