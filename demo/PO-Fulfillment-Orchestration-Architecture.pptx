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ASSISTANT AI  ·  FOR PURCHASE-ORDER FULFILLMENT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Autonomous Purchase Order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Segoe UI"/>
              </a:rPr>
              <a:t>to 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9319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An intelligent Order Assistant AI that transforms every incoming purchase order — from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intake through to shipment — into a fast, accurate and self-validating workflow, powered by a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team of specialised AI agents, with human judgement applied only where it truly matters.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8A8A99"/>
                </a:solidFill>
                <a:latin typeface="Segoe UI"/>
              </a:rPr>
              <a:t>Business case  ·  Solution architecture  ·  The AI tool we built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BUSINESS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Business 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business need and problem, the solution approach, and the business impact.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NEED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From purchase order to shipment — the manual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91440" cy="9144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764792"/>
            <a:ext cx="106070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Segoe UI"/>
              </a:rPr>
              <a:t>The business receives a high volume of purchase orders from its customers across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email, EDI and portals. Every order must be validated, priced, sourced and approved before it can ship — today that work lands on customer-service reps, order by order, line by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Constant product churn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The catalog is continually refreshed and older SKUs are superseded. CSRs must catch obsolete items and find the approved replacement on every order.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6248" y="295351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Mixed units of measure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6248" y="335584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Items sell in different units — each, kits and cases. Ordered quantities must be converted correctly or shipments and invoices go wrong.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Contract &amp; margin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Customer-specific contract pricing, promos and rebates — plus family-level discount / margin policies that must not be breached.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343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4343400"/>
            <a:ext cx="82296" cy="137160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4507992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Account, credit &amp; approval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4910328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Validating the customer account, the ordering buyer, credit limits and spend approvals — by hand, across multiple systems.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989320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606247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5A5A"/>
                </a:solidFill>
                <a:latin typeface="Segoe UI"/>
              </a:rPr>
              <a:t>Impact of the status quo:  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slow order turnaround, wrong-SKU shipments and returns, margin leakage, CSRs buried in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An Order Assistant AI with human-in-the-loop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B8B8C6"/>
                </a:solidFill>
                <a:latin typeface="Segoe UI"/>
              </a:rPr>
              <a:t>An orchestration engine runs a pipeline of specialist AI agents. Each agent makes master-data-driven decisions automatically and only pauses for a human when a decision is ambiguous or breaches policy.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23160"/>
            <a:ext cx="2670048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2807208"/>
            <a:ext cx="502920" cy="502920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Straight-through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are validated, priced, sourced, planned and created with zero human touch.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2423160"/>
            <a:ext cx="2670048" cy="109728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30168" y="2807208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Risky or ambiguous decisions pause the pipeline and hand off to a CSR, then resume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7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2423160"/>
            <a:ext cx="2670048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2807208"/>
            <a:ext cx="502920" cy="502920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79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Master-data driven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Decisions come from governed master data — not hard-coded rules — so behaviour is transparent and tunable.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399" y="2423160"/>
            <a:ext cx="2670048" cy="33832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399" y="2423160"/>
            <a:ext cx="2670048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208007" y="2807208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3520439"/>
            <a:ext cx="21671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4206240"/>
            <a:ext cx="216712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automated and human decision is captured with its rationale for governance and traceability.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How the Order Assistant AI improves the business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5486400" cy="109728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5A5A"/>
                </a:solidFill>
                <a:latin typeface="Segoe UI"/>
              </a:rPr>
              <a:t>TODAY  —  MANUAL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2377439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Minutes of multi-system lookups per line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2852927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slip through → returns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3328415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Inconsistent discounting → margin leak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3803903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Hard to scale at peak season</a:t>
            </a:r>
          </a:p>
        </p:txBody>
      </p:sp>
      <p:sp>
        <p:nvSpPr>
          <p:cNvPr id="20" name="Oval 19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Limited audit of who decided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1691640"/>
            <a:ext cx="5486400" cy="3154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3912" y="1691640"/>
            <a:ext cx="548640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1892807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WITH ORDER ASSISTANT AI</a:t>
            </a:r>
          </a:p>
        </p:txBody>
      </p:sp>
      <p:sp>
        <p:nvSpPr>
          <p:cNvPr id="25" name="Oval 24"/>
          <p:cNvSpPr/>
          <p:nvPr/>
        </p:nvSpPr>
        <p:spPr>
          <a:xfrm>
            <a:off x="6473952" y="2377439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31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Clean orders auto-processed end-to-end</a:t>
            </a:r>
          </a:p>
        </p:txBody>
      </p:sp>
      <p:sp>
        <p:nvSpPr>
          <p:cNvPr id="27" name="Oval 26"/>
          <p:cNvSpPr/>
          <p:nvPr/>
        </p:nvSpPr>
        <p:spPr>
          <a:xfrm>
            <a:off x="6473952" y="2852927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80720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Obsolete SKUs auto-flagged with approved substitute</a:t>
            </a:r>
          </a:p>
        </p:txBody>
      </p:sp>
      <p:sp>
        <p:nvSpPr>
          <p:cNvPr id="29" name="Oval 28"/>
          <p:cNvSpPr/>
          <p:nvPr/>
        </p:nvSpPr>
        <p:spPr>
          <a:xfrm>
            <a:off x="6473952" y="3328415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328269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Margin policy enforced on every line</a:t>
            </a:r>
          </a:p>
        </p:txBody>
      </p:sp>
      <p:sp>
        <p:nvSpPr>
          <p:cNvPr id="31" name="Oval 30"/>
          <p:cNvSpPr/>
          <p:nvPr/>
        </p:nvSpPr>
        <p:spPr>
          <a:xfrm>
            <a:off x="6473952" y="3803903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0840" y="3758183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Scales elastically with order volume</a:t>
            </a:r>
          </a:p>
        </p:txBody>
      </p:sp>
      <p:sp>
        <p:nvSpPr>
          <p:cNvPr id="33" name="Oval 32"/>
          <p:cNvSpPr/>
          <p:nvPr/>
        </p:nvSpPr>
        <p:spPr>
          <a:xfrm>
            <a:off x="6473952" y="427939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42336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Every decision captured for 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Business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Faster order turnaround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07208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Fewer returns &amp; wrong shipments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07208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65776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Protected margins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65776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24344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Higher CSR productivity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24344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582912" y="553212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Consistent, governed decisions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82912" y="5532120"/>
            <a:ext cx="2148840" cy="7315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SOLUTION ARCHITECTURE &amp;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Solution architecture &amp;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reference architecture, the runtime component &amp; data-flow view, the process flow, and the request sequence.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Solution architecture — layered reference 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536192" cy="5486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CHANNELS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5486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12848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78224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Web portal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1691640"/>
            <a:ext cx="1737360" cy="5486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Manual entry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50008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EXPERIENCE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50008"/>
            <a:ext cx="73152" cy="56692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12848" y="2350008"/>
            <a:ext cx="733348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·  Streamlit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PO intake  ·  live agent panels  ·  one-click decisions  ·  audit 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6664"/>
            <a:ext cx="1536192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026664"/>
            <a:ext cx="73152" cy="10607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212848" y="3026664"/>
            <a:ext cx="7333488" cy="1060704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081528"/>
            <a:ext cx="7059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FFE600"/>
                </a:solidFill>
                <a:latin typeface="Segoe UI"/>
              </a:rPr>
              <a:t>Orchestrator  —  resumable pipeline / state machine  (pause on exception · resume on decision)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5000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24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3496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2744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1992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1240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97368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9847" y="3401568"/>
            <a:ext cx="719328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97096"/>
            <a:ext cx="1536192" cy="56692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DOMAIN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97096"/>
            <a:ext cx="73152" cy="56692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212848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 engine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56432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 service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00016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 / ATP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0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87183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0767" y="4197096"/>
            <a:ext cx="1115568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Budget / approval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73752"/>
            <a:ext cx="1536192" cy="932688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DATA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INTEGRATION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873752"/>
            <a:ext cx="73152" cy="93268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212848" y="4873752"/>
            <a:ext cx="4709160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22576" y="4919472"/>
            <a:ext cx="4480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22576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58718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94860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731002" y="5148072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22576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458718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94860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731002" y="5458968"/>
            <a:ext cx="1081278" cy="27432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Budget/Comp.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077456" y="4873752"/>
            <a:ext cx="2468879" cy="93268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87184" y="4919472"/>
            <a:ext cx="23042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INTEGRATION ADAPTERS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87184" y="5148072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87184" y="5358384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87184" y="5568696"/>
            <a:ext cx="2249424" cy="182880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8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747504" y="1691640"/>
            <a:ext cx="1892807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747504" y="1691640"/>
            <a:ext cx="1892807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75520" y="1828800"/>
            <a:ext cx="1636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875520" y="2139696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Governance &amp; routing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75520" y="3035808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3931920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Security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Access control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75520" y="4828031"/>
            <a:ext cx="1636775" cy="7772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Observability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&amp; Logging</a:t>
            </a:r>
          </a:p>
        </p:txBody>
      </p:sp>
      <p:sp>
        <p:nvSpPr>
          <p:cNvPr id="63" name="Down Arrow 62"/>
          <p:cNvSpPr/>
          <p:nvPr/>
        </p:nvSpPr>
        <p:spPr>
          <a:xfrm>
            <a:off x="1179576" y="22585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179576" y="2926080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own Arrow 64"/>
          <p:cNvSpPr/>
          <p:nvPr/>
        </p:nvSpPr>
        <p:spPr>
          <a:xfrm>
            <a:off x="1179576" y="4096512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79576" y="4773168"/>
            <a:ext cx="219456" cy="91440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1">
                <a:solidFill>
                  <a:srgbClr val="FFE600"/>
                </a:solidFill>
                <a:latin typeface="Segoe UI"/>
              </a:rPr>
              <a:t>Logical reference architecture.  </a:t>
            </a:r>
            <a:r>
              <a:rPr sz="950" b="0" i="1">
                <a:solidFill>
                  <a:srgbClr val="8A8A99"/>
                </a:solidFill>
                <a:latin typeface="Segoe UI"/>
              </a:rPr>
              <a:t>POC runs on Streamlit + Python with master data as workbooks; production maps to enterprise ERP / MDM, identity and cloud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RUNTIME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Component &amp; data-flow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233172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74519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PO SOURCES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12848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Email /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468880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EDI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724912"/>
            <a:ext cx="2011680" cy="219456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B8B8C6"/>
                </a:solidFill>
                <a:latin typeface="Segoe UI"/>
              </a:rPr>
              <a:t>Portal / Manual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783080"/>
            <a:ext cx="5806440" cy="8686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874519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EXPERIENCE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139696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CSR Workspace  —  Streamlit UI  (intake · live agent panels · one-click decisions · audit)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1783080"/>
            <a:ext cx="2240280" cy="36118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INTEGRATIONS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7192" y="224028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ERP / Order Mgmt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37192" y="274320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Email / SMTP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37192" y="324612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Approval routing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37192" y="3749040"/>
            <a:ext cx="1920240" cy="38404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B8B8C6"/>
                </a:solidFill>
                <a:latin typeface="Segoe UI"/>
              </a:rPr>
              <a:t>Audit store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46120" y="2926080"/>
            <a:ext cx="5806440" cy="24688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46120" y="2926080"/>
            <a:ext cx="5806440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305409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E600"/>
                </a:solidFill>
                <a:latin typeface="Segoe UI"/>
              </a:rPr>
              <a:t>ORCHESTRATION ENGINE</a:t>
            </a:r>
            <a:r>
              <a:rPr sz="900" b="0" i="1">
                <a:solidFill>
                  <a:srgbClr val="8A8A99"/>
                </a:solidFill>
                <a:latin typeface="Segoe UI"/>
              </a:rPr>
              <a:t>   (resumable pipeline / state machine)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0156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PO Extractor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6752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Intake Resolver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33488" y="3429000"/>
            <a:ext cx="1737360" cy="59436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Account Validator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0156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Pipeline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(9 agents)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6752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33488" y="4114800"/>
            <a:ext cx="1737360" cy="96012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Execution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46120" y="5623560"/>
            <a:ext cx="5806440" cy="685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29000" y="56875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MASTER-DATA FOUNDATION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2900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Customer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937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Buyer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80974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Product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00116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Pricing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Credit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80860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Inventory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71232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Logistics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61604" y="5943600"/>
            <a:ext cx="658368" cy="292608"/>
          </a:xfrm>
          <a:prstGeom prst="roundRect">
            <a:avLst>
              <a:gd name="adj" fmla="val 8000"/>
            </a:avLst>
          </a:prstGeom>
          <a:solidFill>
            <a:srgbClr val="14141E"/>
          </a:solidFill>
          <a:ln w="635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750" b="1" i="0">
                <a:solidFill>
                  <a:srgbClr val="B8B8C6"/>
                </a:solidFill>
                <a:latin typeface="Segoe UI"/>
              </a:rPr>
              <a:t>Budget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880360" y="2395728"/>
            <a:ext cx="365760" cy="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126480" y="2651760"/>
            <a:ext cx="0" cy="27432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6126480" y="5394960"/>
            <a:ext cx="0" cy="22860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052560" y="3931920"/>
            <a:ext cx="320040" cy="0"/>
          </a:xfrm>
          <a:prstGeom prst="line">
            <a:avLst/>
          </a:prstGeom>
          <a:ln w="19050">
            <a:solidFill>
              <a:srgbClr val="FFE600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4864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Data-driven decisions read governed master data; results &amp; exceptions flow back to the CSR and out to ERP / email.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PROCESS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Process flowchart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rminator 8"/>
          <p:cNvSpPr/>
          <p:nvPr/>
        </p:nvSpPr>
        <p:spPr>
          <a:xfrm>
            <a:off x="2148840" y="164592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PO received</a:t>
            </a:r>
          </a:p>
        </p:txBody>
      </p:sp>
      <p:sp>
        <p:nvSpPr>
          <p:cNvPr id="10" name="Process 9"/>
          <p:cNvSpPr/>
          <p:nvPr/>
        </p:nvSpPr>
        <p:spPr>
          <a:xfrm>
            <a:off x="2148840" y="2212848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— extract &amp; reconcile vs master data</a:t>
            </a:r>
          </a:p>
        </p:txBody>
      </p:sp>
      <p:sp>
        <p:nvSpPr>
          <p:cNvPr id="11" name="Decision 10"/>
          <p:cNvSpPr/>
          <p:nvPr/>
        </p:nvSpPr>
        <p:spPr>
          <a:xfrm>
            <a:off x="2560320" y="2852928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Intake issues?</a:t>
            </a:r>
          </a:p>
        </p:txBody>
      </p:sp>
      <p:sp>
        <p:nvSpPr>
          <p:cNvPr id="12" name="Process 11"/>
          <p:cNvSpPr/>
          <p:nvPr/>
        </p:nvSpPr>
        <p:spPr>
          <a:xfrm>
            <a:off x="2148840" y="3730752"/>
            <a:ext cx="3566160" cy="54864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Run decision pipeline (Customer → … → Approvals)</a:t>
            </a:r>
          </a:p>
        </p:txBody>
      </p:sp>
      <p:sp>
        <p:nvSpPr>
          <p:cNvPr id="13" name="Decision 12"/>
          <p:cNvSpPr/>
          <p:nvPr/>
        </p:nvSpPr>
        <p:spPr>
          <a:xfrm>
            <a:off x="2560320" y="4370832"/>
            <a:ext cx="2743200" cy="777240"/>
          </a:xfrm>
          <a:prstGeom prst="flowChartDecision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Policy exception?</a:t>
            </a:r>
          </a:p>
        </p:txBody>
      </p:sp>
      <p:sp>
        <p:nvSpPr>
          <p:cNvPr id="14" name="Process 13"/>
          <p:cNvSpPr/>
          <p:nvPr/>
        </p:nvSpPr>
        <p:spPr>
          <a:xfrm>
            <a:off x="2148840" y="5248656"/>
            <a:ext cx="3566160" cy="502920"/>
          </a:xfrm>
          <a:prstGeom prst="flowChartProcess">
            <a:avLst/>
          </a:prstGeom>
          <a:solidFill>
            <a:srgbClr val="2E2E40"/>
          </a:solidFill>
          <a:ln w="1270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Execution — create sales order</a:t>
            </a:r>
          </a:p>
        </p:txBody>
      </p:sp>
      <p:sp>
        <p:nvSpPr>
          <p:cNvPr id="15" name="Terminator 14"/>
          <p:cNvSpPr/>
          <p:nvPr/>
        </p:nvSpPr>
        <p:spPr>
          <a:xfrm>
            <a:off x="2148840" y="5852160"/>
            <a:ext cx="3566160" cy="457200"/>
          </a:xfrm>
          <a:prstGeom prst="flowChartTerminator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Order created + full audit trail</a:t>
            </a:r>
          </a:p>
        </p:txBody>
      </p:sp>
      <p:sp>
        <p:nvSpPr>
          <p:cNvPr id="16" name="Process 15"/>
          <p:cNvSpPr/>
          <p:nvPr/>
        </p:nvSpPr>
        <p:spPr>
          <a:xfrm>
            <a:off x="7223760" y="2761488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resolves gate(s):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substitute · qty · UOM · buyer</a:t>
            </a:r>
          </a:p>
        </p:txBody>
      </p:sp>
      <p:sp>
        <p:nvSpPr>
          <p:cNvPr id="17" name="Process 16"/>
          <p:cNvSpPr/>
          <p:nvPr/>
        </p:nvSpPr>
        <p:spPr>
          <a:xfrm>
            <a:off x="7223760" y="4279392"/>
            <a:ext cx="3840480" cy="822960"/>
          </a:xfrm>
          <a:prstGeom prst="flowChartProcess">
            <a:avLst/>
          </a:prstGeom>
          <a:solidFill>
            <a:srgbClr val="242433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decides: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Approve · Reject · Notify</a:t>
            </a:r>
          </a:p>
        </p:txBody>
      </p:sp>
      <p:sp>
        <p:nvSpPr>
          <p:cNvPr id="18" name="Terminator 17"/>
          <p:cNvSpPr/>
          <p:nvPr/>
        </p:nvSpPr>
        <p:spPr>
          <a:xfrm>
            <a:off x="7223760" y="5394960"/>
            <a:ext cx="3840480" cy="502920"/>
          </a:xfrm>
          <a:prstGeom prst="flowChartTerminator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Order stopped / routed to team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2103120"/>
            <a:ext cx="0" cy="109728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931920" y="2761488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931920" y="3630168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05072" y="364845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31920" y="4279392"/>
            <a:ext cx="0" cy="91440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931920" y="5148072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005072" y="5157216"/>
            <a:ext cx="548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B8B8C6"/>
                </a:solidFill>
                <a:latin typeface="Segoe UI"/>
              </a:rPr>
              <a:t>No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931920" y="5751576"/>
            <a:ext cx="0" cy="100584"/>
          </a:xfrm>
          <a:prstGeom prst="line">
            <a:avLst/>
          </a:prstGeom>
          <a:ln w="19050">
            <a:solidFill>
              <a:srgbClr val="FFE6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303520" y="3172968"/>
            <a:ext cx="1920240" cy="6858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40680" y="2926080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4A9EFF"/>
                </a:solidFill>
                <a:latin typeface="Segoe UI"/>
              </a:rPr>
              <a:t>Yes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03720" y="3566160"/>
            <a:ext cx="320040" cy="0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03720" y="3566160"/>
            <a:ext cx="0" cy="438912"/>
          </a:xfrm>
          <a:prstGeom prst="line">
            <a:avLst/>
          </a:prstGeom>
          <a:ln w="19050">
            <a:solidFill>
              <a:srgbClr val="4A9E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31920" y="4005072"/>
            <a:ext cx="2971800" cy="0"/>
          </a:xfrm>
          <a:prstGeom prst="line">
            <a:avLst/>
          </a:prstGeom>
          <a:ln w="19050">
            <a:solidFill>
              <a:srgbClr val="4A9E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3785615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4A9EFF"/>
                </a:solidFill>
                <a:latin typeface="Segoe UI"/>
              </a:rPr>
              <a:t>resolved → continue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303520" y="4690872"/>
            <a:ext cx="1920240" cy="6858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40680" y="4443984"/>
            <a:ext cx="640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B020"/>
                </a:solidFill>
                <a:latin typeface="Segoe UI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903720" y="5102352"/>
            <a:ext cx="320040" cy="0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03720" y="5102352"/>
            <a:ext cx="0" cy="397764"/>
          </a:xfrm>
          <a:prstGeom prst="line">
            <a:avLst/>
          </a:prstGeom>
          <a:ln w="19050">
            <a:solidFill>
              <a:srgbClr val="FFB02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715000" y="5500116"/>
            <a:ext cx="1188720" cy="0"/>
          </a:xfrm>
          <a:prstGeom prst="line">
            <a:avLst/>
          </a:prstGeom>
          <a:ln w="19050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852160" y="5285232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 i="0">
                <a:solidFill>
                  <a:srgbClr val="FFB020"/>
                </a:solidFill>
                <a:latin typeface="Segoe UI"/>
              </a:rPr>
              <a:t>approve → continue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0" y="5102352"/>
            <a:ext cx="0" cy="292608"/>
          </a:xfrm>
          <a:prstGeom prst="line">
            <a:avLst/>
          </a:prstGeom>
          <a:ln w="19050">
            <a:solidFill>
              <a:srgbClr val="FF5A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235440" y="5120640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reject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INTERACTION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Sequence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/ Buyer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716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7743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CSR Workspace UI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612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51959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12064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2648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Specialist Agents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99516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0100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Master Data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968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875520" y="1783080"/>
            <a:ext cx="1737360" cy="4572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9525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ERP / Email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744200" y="2240280"/>
            <a:ext cx="0" cy="3931920"/>
          </a:xfrm>
          <a:prstGeom prst="line">
            <a:avLst/>
          </a:prstGeom>
          <a:ln w="15875">
            <a:solidFill>
              <a:srgbClr val="3C3C4E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371600" y="260604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371600" y="235915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1. Submit PO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46120" y="292608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267919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2. start(po)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24612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299923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3. run intake + pipeline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95160" y="3566160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95160" y="331927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4. lookup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6995160" y="388620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995160" y="3639312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5. records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5120640" y="4206240"/>
            <a:ext cx="187452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120640" y="3959352"/>
            <a:ext cx="1874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6. results / exceptions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94560" y="4434840"/>
            <a:ext cx="3977639" cy="1051560"/>
          </a:xfrm>
          <a:prstGeom prst="rect">
            <a:avLst/>
          </a:prstGeom>
          <a:noFill/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194560" y="4434840"/>
            <a:ext cx="1371600" cy="25603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14141E"/>
                </a:solidFill>
                <a:latin typeface="Segoe UI"/>
              </a:rPr>
              <a:t>alt  [exception]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46120" y="4846320"/>
            <a:ext cx="1874520" cy="0"/>
          </a:xfrm>
          <a:prstGeom prst="line">
            <a:avLst/>
          </a:prstGeom>
          <a:ln w="15875">
            <a:solidFill>
              <a:srgbClr val="FFB02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246120" y="4599431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7. CSR DECISION NEEDED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71600" y="513892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371600" y="489204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8. decision (pick / enter / approve)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46120" y="5413248"/>
            <a:ext cx="187452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3246120" y="5166360"/>
            <a:ext cx="187451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9. resume(decision)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120640" y="5760720"/>
            <a:ext cx="5623560" cy="0"/>
          </a:xfrm>
          <a:prstGeom prst="line">
            <a:avLst/>
          </a:prstGeom>
          <a:ln w="15875">
            <a:solidFill>
              <a:srgbClr val="FFFFF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120640" y="5513831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10. create order / notify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120640" y="6035040"/>
            <a:ext cx="5623560" cy="0"/>
          </a:xfrm>
          <a:prstGeom prst="line">
            <a:avLst/>
          </a:prstGeom>
          <a:ln w="15875">
            <a:solidFill>
              <a:srgbClr val="B8B8C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5788152"/>
            <a:ext cx="56235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B8B8C6"/>
                </a:solidFill>
                <a:latin typeface="Segoe UI"/>
              </a:rPr>
              <a:t>11. order # / 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8A8A99"/>
                </a:solidFill>
                <a:latin typeface="Segoe UI"/>
              </a:rPr>
              <a:t>The exception block (7–9) repeats per gate; clean orders skip it entirely (straight-through).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E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E600"/>
                </a:solidFill>
                <a:latin typeface="Segoe UI"/>
              </a:rPr>
              <a:t>SECTION THE AI TOOL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1752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The AI tool we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" y="416052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4340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B8B8C6"/>
                </a:solidFill>
                <a:latin typeface="Segoe UI"/>
              </a:rPr>
              <a:t>The agents, the master-data foundation, the pipeline, the two processing paths, governance and technology.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AI agent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Intake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Digitises the raw PO, extracts header/buyer/ship-to/lines, and reconciles every line against master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Obsolete SKU · bad qty · UOM · unknown buyer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Customer Validation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Resolves customer &amp; account hierarchy, validates ship-to, and authorises the buyer.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Account · ship-to · buyer authority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691640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691640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66175" y="1837944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Product Matching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2258568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each SKU against the catalog and runs the compliance sub-check.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66175" y="282549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Catalog match · compliance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Pricing &amp; Promo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Builds the price waterfall (list → contract → tier → promo → rebate → net) and totals.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Margin / discount policy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9392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9392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Credit 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35424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Checks order value against available credit and payment terms.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Credit limit · terms ·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10144" y="3255264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0144" y="3255264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66175" y="3401568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Inventory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3822191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Sources each line across distribution centres and confirms availability.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5" y="43891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ATP · allocation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Shipments Agent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Confirms carrier serviceability, freight and delivery SLA.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Fulfillment plan · ETA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79392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79392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5424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Approvals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35424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Runs the approval-matrix / budget check last, before execution.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35424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Budget · self-approval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10144" y="4818888"/>
            <a:ext cx="3611880" cy="14173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10144" y="4818888"/>
            <a:ext cx="73152" cy="141732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66175" y="4965192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🤖  Order Execution Agent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6175" y="5385816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B8B8C6"/>
                </a:solidFill>
                <a:latin typeface="Segoe UI"/>
              </a:rPr>
              <a:t>Creates the sales order and emits the completion record.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6175" y="5952744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FFE600"/>
                </a:solidFill>
                <a:latin typeface="Segoe UI"/>
              </a:rPr>
              <a:t>Order created · audit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Master data drives every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B8B8C6"/>
                </a:solidFill>
                <a:latin typeface="Segoe UI"/>
              </a:rPr>
              <a:t>Each agent reads governed master data (mock Excel workbooks in the POC; enterprise systems in production). Change the data, not the code, to change behaviour.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2144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Customer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Account hierarchy, tiers, buying history, fulfillment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480559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Buyer profiles, roles, permissions, product-family access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2331720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1312" y="2606039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13648" y="2459736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Product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2788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Catalog, lifecycle status, substitutes, UOM conversions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2144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Price lists, contracts, volume tiers, promos, rebates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80559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82896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2896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Credit limits, available credit, payment terms, risk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10144" y="3300984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11312" y="3575303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342900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3758183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Plant / DC stock, in-transit, ATP, allocation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49808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52144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Logistics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Carriers, serviceability, freight, delivery SLA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79392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80559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82896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2896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Cost-centre budgets, approval matrix, buyer authority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10144" y="4270248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11312" y="4544568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13648" y="4398264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Compliance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47274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Regional restrictions, approvals, required documents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5239512"/>
            <a:ext cx="3611880" cy="8412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9808" y="5513832"/>
            <a:ext cx="256032" cy="256032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2144" y="536752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" y="56967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B8B8C6"/>
                </a:solidFill>
                <a:latin typeface="Segoe UI"/>
              </a:rPr>
              <a:t>Exception routing, escalation targets, SLAs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The orchestration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Sequential decision layers thread a shared context. The pipeline pauses on the first exception and resumes after the CSR decides.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1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Intake</a:t>
            </a:r>
          </a:p>
        </p:txBody>
      </p:sp>
      <p:sp>
        <p:nvSpPr>
          <p:cNvPr id="11" name="Chevron 10"/>
          <p:cNvSpPr/>
          <p:nvPr/>
        </p:nvSpPr>
        <p:spPr>
          <a:xfrm>
            <a:off x="17190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699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2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3" name="Chevron 12"/>
          <p:cNvSpPr/>
          <p:nvPr/>
        </p:nvSpPr>
        <p:spPr>
          <a:xfrm>
            <a:off x="30220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7296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3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432511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598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Promo</a:t>
            </a:r>
          </a:p>
        </p:txBody>
      </p:sp>
      <p:sp>
        <p:nvSpPr>
          <p:cNvPr id="17" name="Chevron 16"/>
          <p:cNvSpPr/>
          <p:nvPr/>
        </p:nvSpPr>
        <p:spPr>
          <a:xfrm>
            <a:off x="562813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7900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19" name="Chevron 18"/>
          <p:cNvSpPr/>
          <p:nvPr/>
        </p:nvSpPr>
        <p:spPr>
          <a:xfrm>
            <a:off x="693115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8202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1" name="Chevron 20"/>
          <p:cNvSpPr/>
          <p:nvPr/>
        </p:nvSpPr>
        <p:spPr>
          <a:xfrm>
            <a:off x="823417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85048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9537192" y="2670048"/>
            <a:ext cx="187452" cy="237744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88067" y="2331720"/>
            <a:ext cx="1170432" cy="9144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8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10090404" y="3291839"/>
            <a:ext cx="365760" cy="29260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63840" y="3611880"/>
            <a:ext cx="3767328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Order Execution Agent  ·  create order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611880"/>
            <a:ext cx="7040880" cy="65836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B8B8C6"/>
                </a:solidFill>
                <a:latin typeface="Segoe UI"/>
              </a:rPr>
              <a:t>Exception Governance &amp; Routing  —  runs on every order (records + routes exceptions)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73152" cy="137160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Pauses on first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The pipeline stops at the layer that needs a decision — nothing downstream runs on bad data.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9392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79392" y="4709160"/>
            <a:ext cx="73152" cy="137160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35424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Resumes automatically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5424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Once the CSR decides, the shared context is updated and the pipeline continues from where it paused.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0144" y="4709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10144" y="4709160"/>
            <a:ext cx="73152" cy="13716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5" y="489204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Approvals run last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5" y="5330952"/>
            <a:ext cx="3154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Budget / approval-matrix check runs only after product, pricing, credit, inventory and logistics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One engine, two paths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5440680" cy="118872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35C759"/>
                </a:solidFill>
                <a:latin typeface="Segoe UI"/>
              </a:rPr>
              <a:t>HAPPY 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Straight-through processing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2666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Clean PO, no ambiguity or policy breach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52958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Every agent validates &amp; passes automatically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032503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Zero human intervention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53542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Order created in a single pass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5038344"/>
            <a:ext cx="146304" cy="146304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Full audit trail produced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order created with no CSR touch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1783080"/>
            <a:ext cx="5440680" cy="420624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440680" cy="118872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2057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B020"/>
                </a:solidFill>
                <a:latin typeface="Segoe UI"/>
              </a:rPr>
              <a:t>CSR APPROVAL 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3952" y="237744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Human-in-the-loop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302666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297180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AI auto-resolves everything it can from data</a:t>
            </a:r>
          </a:p>
        </p:txBody>
      </p:sp>
      <p:sp>
        <p:nvSpPr>
          <p:cNvPr id="30" name="Oval 29"/>
          <p:cNvSpPr/>
          <p:nvPr/>
        </p:nvSpPr>
        <p:spPr>
          <a:xfrm>
            <a:off x="6519672" y="352958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Ambiguous / policy-breaching items PAUSE</a:t>
            </a:r>
          </a:p>
        </p:txBody>
      </p:sp>
      <p:sp>
        <p:nvSpPr>
          <p:cNvPr id="32" name="Oval 31"/>
          <p:cNvSpPr/>
          <p:nvPr/>
        </p:nvSpPr>
        <p:spPr>
          <a:xfrm>
            <a:off x="6519672" y="4032503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97763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CSR gets a pre-investigated, one-click decision</a:t>
            </a:r>
          </a:p>
        </p:txBody>
      </p:sp>
      <p:sp>
        <p:nvSpPr>
          <p:cNvPr id="34" name="Oval 33"/>
          <p:cNvSpPr/>
          <p:nvPr/>
        </p:nvSpPr>
        <p:spPr>
          <a:xfrm>
            <a:off x="6519672" y="453542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4805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Guardrails validate every manual entry</a:t>
            </a:r>
          </a:p>
        </p:txBody>
      </p:sp>
      <p:sp>
        <p:nvSpPr>
          <p:cNvPr id="36" name="Oval 35"/>
          <p:cNvSpPr/>
          <p:nvPr/>
        </p:nvSpPr>
        <p:spPr>
          <a:xfrm>
            <a:off x="6519672" y="5038344"/>
            <a:ext cx="146304" cy="146304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93992" y="498348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Pipeline resumes automatically after each gate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5532120"/>
            <a:ext cx="4846320" cy="38404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Outcome:  CSR decides only the exceptions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Happy Flow — straight-through processing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Submit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PO</a:t>
            </a:r>
          </a:p>
        </p:txBody>
      </p:sp>
      <p:sp>
        <p:nvSpPr>
          <p:cNvPr id="10" name="Chevron 9"/>
          <p:cNvSpPr/>
          <p:nvPr/>
        </p:nvSpPr>
        <p:spPr>
          <a:xfrm>
            <a:off x="15727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13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extract + 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26471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1576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Validation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37216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901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Matching</a:t>
            </a:r>
          </a:p>
        </p:txBody>
      </p:sp>
      <p:sp>
        <p:nvSpPr>
          <p:cNvPr id="16" name="Chevron 15"/>
          <p:cNvSpPr/>
          <p:nvPr/>
        </p:nvSpPr>
        <p:spPr>
          <a:xfrm>
            <a:off x="47960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646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Pricing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044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3902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Credit</a:t>
            </a:r>
          </a:p>
        </p:txBody>
      </p:sp>
      <p:sp>
        <p:nvSpPr>
          <p:cNvPr id="20" name="Chevron 19"/>
          <p:cNvSpPr/>
          <p:nvPr/>
        </p:nvSpPr>
        <p:spPr>
          <a:xfrm>
            <a:off x="694486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1344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Inventory</a:t>
            </a:r>
          </a:p>
        </p:txBody>
      </p:sp>
      <p:sp>
        <p:nvSpPr>
          <p:cNvPr id="22" name="Chevron 21"/>
          <p:cNvSpPr/>
          <p:nvPr/>
        </p:nvSpPr>
        <p:spPr>
          <a:xfrm>
            <a:off x="801928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087867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Shipments</a:t>
            </a:r>
          </a:p>
        </p:txBody>
      </p:sp>
      <p:sp>
        <p:nvSpPr>
          <p:cNvPr id="24" name="Chevron 23"/>
          <p:cNvSpPr/>
          <p:nvPr/>
        </p:nvSpPr>
        <p:spPr>
          <a:xfrm>
            <a:off x="909370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6228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 w="9525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Approvals</a:t>
            </a:r>
          </a:p>
        </p:txBody>
      </p:sp>
      <p:sp>
        <p:nvSpPr>
          <p:cNvPr id="26" name="Chevron 25"/>
          <p:cNvSpPr/>
          <p:nvPr/>
        </p:nvSpPr>
        <p:spPr>
          <a:xfrm>
            <a:off x="10168128" y="2171700"/>
            <a:ext cx="96012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36708" y="1828800"/>
            <a:ext cx="1024128" cy="868680"/>
          </a:xfrm>
          <a:prstGeom prst="roundRect">
            <a:avLst>
              <a:gd name="adj" fmla="val 8000"/>
            </a:avLst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Order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14141E"/>
                </a:solidFill>
                <a:latin typeface="Segoe UI"/>
              </a:rPr>
              <a:t>Created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8346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All checks pass automatically — no </a:t>
            </a:r>
            <a:r>
              <a:rPr sz="1200" b="1" i="0">
                <a:solidFill>
                  <a:srgbClr val="35C759"/>
                </a:solidFill>
                <a:latin typeface="Segoe UI"/>
              </a:rPr>
              <a:t>CSR DECISION NEEDED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banners appear.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291840"/>
            <a:ext cx="5943600" cy="269748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345643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EXAMPLE PO  —  PO-2026-30001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840480"/>
            <a:ext cx="5486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Great Lakes Supply Co  ·  john.miller@glps.com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Ship to: Chicago DC, IL 60639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1  SKU-CTG-4520  Catalog item A     100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2  SKU-SEL-1150  Catalog item B     120 EA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Segoe UI"/>
              </a:rPr>
              <a:t>3  SKU-VLV-2201  Catalog item C      15 EA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656832" y="3291840"/>
            <a:ext cx="4983480" cy="269748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56832" y="3291840"/>
            <a:ext cx="91440" cy="2697480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35C759"/>
                </a:solidFill>
                <a:latin typeface="Segoe UI"/>
              </a:rPr>
              <a:t>AUTOMATED 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8862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Subtotal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8862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$3,083.00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3434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Freight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343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$151.62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4800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B8B8C6"/>
                </a:solidFill>
                <a:latin typeface="Segoe UI"/>
              </a:rPr>
              <a:t>Tax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8006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$271.79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03720" y="5257800"/>
            <a:ext cx="4526280" cy="18288"/>
          </a:xfrm>
          <a:prstGeom prst="rect">
            <a:avLst/>
          </a:prstGeom>
          <a:solidFill>
            <a:srgbClr val="3C3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03720" y="53492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ORDER TOTAL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34924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E600"/>
                </a:solidFill>
                <a:latin typeface="Segoe UI"/>
              </a:rPr>
              <a:t>$3,529.53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DEMO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CSR Approval Flow — five decision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 single PO engineered to trigger five gates. The AI investigates, presents a one-click choice, captures the decision, and resumes.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Obsolete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1 SKU is obsolete — AI proposes approved substitutes with price impact.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63240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6664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Invalid quantity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6664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4 quantity is 0 — CSR enters a valid, positive whole number (validated).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26664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65776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65776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321808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UOM conversion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Line 5 ordered in EA but sold in KIT — CSR picks the kit quantity to fulfil.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24344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24344" y="2148840"/>
            <a:ext cx="2148840" cy="9144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580375" y="2423160"/>
            <a:ext cx="502920" cy="502920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Unresolved buyer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PO email isn't a registered buyer — CSR selects from the account's buyers.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INTAKE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82912" y="2148840"/>
            <a:ext cx="2148840" cy="27432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82912" y="2148840"/>
            <a:ext cx="2148840" cy="9144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838944" y="2423160"/>
            <a:ext cx="502920" cy="502920"/>
          </a:xfrm>
          <a:prstGeom prst="ellipse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14141E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2368" y="3063240"/>
            <a:ext cx="1737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Pricing / margin exception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2368" y="374903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B8B8C6"/>
                </a:solidFill>
                <a:latin typeface="Segoe UI"/>
              </a:rPr>
              <a:t>Discount 21.5% exceeds the 10% family policy — CSR approves the override.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02368" y="4544568"/>
            <a:ext cx="1709928" cy="292608"/>
          </a:xfrm>
          <a:prstGeom prst="roundRect">
            <a:avLst>
              <a:gd name="adj" fmla="val 8000"/>
            </a:avLst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14141E"/>
                </a:solidFill>
                <a:latin typeface="Segoe UI"/>
              </a:rPr>
              <a:t>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B8B8C6"/>
                </a:solidFill>
                <a:latin typeface="Segoe UI"/>
              </a:rPr>
              <a:t>Blue = INTAKE gates (data reconciliation)      Amber = PIPELINE gate (policy breach)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486400"/>
            <a:ext cx="11091672" cy="566928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486400"/>
            <a:ext cx="91440" cy="5669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5961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Approx. order total after CSR choices: </a:t>
            </a:r>
            <a:r>
              <a:rPr sz="1300" b="1" i="0">
                <a:solidFill>
                  <a:srgbClr val="FFE600"/>
                </a:solidFill>
                <a:latin typeface="Segoe UI"/>
              </a:rPr>
              <a:t>$10,659.50</a:t>
            </a:r>
            <a:r>
              <a:rPr sz="1200" b="0" i="0">
                <a:solidFill>
                  <a:srgbClr val="B8B8C6"/>
                </a:solidFill>
                <a:latin typeface="Segoe UI"/>
              </a:rPr>
              <a:t>   —   five multi-system lookups reduced to five one-click decisions.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Exception model &amp; escalation routing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37360"/>
            <a:ext cx="91440" cy="21031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4A9EFF"/>
                </a:solidFill>
                <a:latin typeface="Segoe UI"/>
              </a:rPr>
              <a:t>INTAKE GATES  —  data reconciliation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Obsolete / substitute SKU  ·  unresolved or missing SKU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Invalid quantity  ·  unit-of-measure conversion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Unresolved buyer  ·  partial / unresolved ship-to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912" y="1737360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91440" cy="2103120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01952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B020"/>
                </a:solidFill>
                <a:latin typeface="Segoe UI"/>
              </a:rPr>
              <a:t>PIPELINE GATES  —  policy breach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331720"/>
            <a:ext cx="50292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Pricing / margin-policy exception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Credit hold  ·  budget exceeded / approval required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Compliance restriction  ·  inventory / logistics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Every exception is routed to the responsible team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Product Specialist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SKU / substitution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07208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08376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Order Ops 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8376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Quantity / intake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65776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Sales Ops / Account Mgr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6944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Buyer / ship-to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24344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Pricing Desk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Margin exception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82912" y="461772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4818888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Credit / Approver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5440680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FFE600"/>
                </a:solidFill>
                <a:latin typeface="Segoe UI"/>
              </a:rPr>
              <a:t>Credit &amp; budget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Built-in audit &amp;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659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Every decision is captured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560320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14600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What the agent decided automatically from master data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182112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Why it paused for a CSR (the exception &amp; rationale)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803904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3758184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exact action the CSR took (approve / pick / enter)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425696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379976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The final outcome applied to the order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5047488"/>
            <a:ext cx="146304" cy="146304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001768"/>
            <a:ext cx="4663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B8B8C6"/>
                </a:solidFill>
                <a:latin typeface="Segoe UI"/>
              </a:rPr>
              <a:t>Step-by-step audit trail per decision layer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53912" y="1783080"/>
            <a:ext cx="5486400" cy="4114800"/>
          </a:xfrm>
          <a:prstGeom prst="roundRect">
            <a:avLst>
              <a:gd name="adj" fmla="val 8000"/>
            </a:avLst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912" y="1783080"/>
            <a:ext cx="548640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FFE600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25146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284378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Consistent, policy-aligned decisions across all CSRs.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3337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366674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Full lineage of automated and human decisions.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41605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Continuous improvement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448970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Exception patterns reveal data &amp; policy gaps to fix.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49834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Compliance-ready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5312664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8B8C6"/>
                </a:solidFill>
                <a:latin typeface="Segoe UI"/>
              </a:rPr>
              <a:t>Defensible record for audits and disputes.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E600"/>
                </a:solidFill>
                <a:latin typeface="Segoe U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 i="0">
                <a:solidFill>
                  <a:srgbClr val="FFFFFF"/>
                </a:solidFill>
                <a:latin typeface="Segoe UI"/>
              </a:rPr>
              <a:t>Technology &amp;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2011680" cy="27432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0" y="635508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8A8A99"/>
                </a:solidFill>
                <a:latin typeface="Segoe UI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A8A99"/>
                </a:solidFill>
                <a:latin typeface="Segoe UI"/>
              </a:rPr>
              <a:t>Order Assistant AI  ·  PO-to-Fulfillment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3611880" cy="109728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POC (today)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2788920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Python orchestration engine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3410712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Streamlit CSR workspace UI</a:t>
            </a:r>
          </a:p>
        </p:txBody>
      </p:sp>
      <p:sp>
        <p:nvSpPr>
          <p:cNvPr id="16" name="Oval 15"/>
          <p:cNvSpPr/>
          <p:nvPr/>
        </p:nvSpPr>
        <p:spPr>
          <a:xfrm>
            <a:off x="841247" y="4032504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Master data as Excel workbooks</a:t>
            </a:r>
          </a:p>
        </p:txBody>
      </p:sp>
      <p:sp>
        <p:nvSpPr>
          <p:cNvPr id="18" name="Oval 17"/>
          <p:cNvSpPr/>
          <p:nvPr/>
        </p:nvSpPr>
        <p:spPr>
          <a:xfrm>
            <a:off x="841247" y="4654296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Mock integrations (email / ERP)</a:t>
            </a:r>
          </a:p>
        </p:txBody>
      </p:sp>
      <p:sp>
        <p:nvSpPr>
          <p:cNvPr id="20" name="Oval 19"/>
          <p:cNvSpPr/>
          <p:nvPr/>
        </p:nvSpPr>
        <p:spPr>
          <a:xfrm>
            <a:off x="841247" y="5276088"/>
            <a:ext cx="128016" cy="128016"/>
          </a:xfrm>
          <a:prstGeom prst="ellipse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Runs locally — fast to demo &amp; iterate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1783080"/>
            <a:ext cx="3611880" cy="10972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Architecture principles</a:t>
            </a:r>
          </a:p>
        </p:txBody>
      </p:sp>
      <p:sp>
        <p:nvSpPr>
          <p:cNvPr id="25" name="Oval 24"/>
          <p:cNvSpPr/>
          <p:nvPr/>
        </p:nvSpPr>
        <p:spPr>
          <a:xfrm>
            <a:off x="4572000" y="2788920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1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Modular agents &amp; decision layers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0" y="3410712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1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Resumable pipeline / state machine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0" y="4032504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28031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Data-driven, not hard-coded rules</a:t>
            </a:r>
          </a:p>
        </p:txBody>
      </p:sp>
      <p:sp>
        <p:nvSpPr>
          <p:cNvPr id="31" name="Oval 30"/>
          <p:cNvSpPr/>
          <p:nvPr/>
        </p:nvSpPr>
        <p:spPr>
          <a:xfrm>
            <a:off x="4572000" y="4654296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1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Human-in-the-loop by design</a:t>
            </a:r>
          </a:p>
        </p:txBody>
      </p:sp>
      <p:sp>
        <p:nvSpPr>
          <p:cNvPr id="33" name="Oval 32"/>
          <p:cNvSpPr/>
          <p:nvPr/>
        </p:nvSpPr>
        <p:spPr>
          <a:xfrm>
            <a:off x="4572000" y="5276088"/>
            <a:ext cx="128016" cy="128016"/>
          </a:xfrm>
          <a:prstGeom prst="ellipse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28031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Audit-first for governance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10144" y="1783080"/>
            <a:ext cx="3611880" cy="4114800"/>
          </a:xfrm>
          <a:prstGeom prst="roundRect">
            <a:avLst>
              <a:gd name="adj" fmla="val 8000"/>
            </a:avLst>
          </a:prstGeom>
          <a:solidFill>
            <a:srgbClr val="24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10144" y="1783080"/>
            <a:ext cx="3611880" cy="10972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1031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Production path</a:t>
            </a:r>
          </a:p>
        </p:txBody>
      </p:sp>
      <p:sp>
        <p:nvSpPr>
          <p:cNvPr id="38" name="Oval 37"/>
          <p:cNvSpPr/>
          <p:nvPr/>
        </p:nvSpPr>
        <p:spPr>
          <a:xfrm>
            <a:off x="8302752" y="2788920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58784" y="27432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Connect to ERP / MDM / pricing systems</a:t>
            </a:r>
          </a:p>
        </p:txBody>
      </p:sp>
      <p:sp>
        <p:nvSpPr>
          <p:cNvPr id="40" name="Oval 39"/>
          <p:cNvSpPr/>
          <p:nvPr/>
        </p:nvSpPr>
        <p:spPr>
          <a:xfrm>
            <a:off x="8302752" y="3410712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58784" y="3364992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Swap workbooks for live master data</a:t>
            </a:r>
          </a:p>
        </p:txBody>
      </p:sp>
      <p:sp>
        <p:nvSpPr>
          <p:cNvPr id="42" name="Oval 41"/>
          <p:cNvSpPr/>
          <p:nvPr/>
        </p:nvSpPr>
        <p:spPr>
          <a:xfrm>
            <a:off x="8302752" y="4032504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58784" y="398678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LLM-assisted extraction &amp; reasoning</a:t>
            </a:r>
          </a:p>
        </p:txBody>
      </p:sp>
      <p:sp>
        <p:nvSpPr>
          <p:cNvPr id="44" name="Oval 43"/>
          <p:cNvSpPr/>
          <p:nvPr/>
        </p:nvSpPr>
        <p:spPr>
          <a:xfrm>
            <a:off x="8302752" y="4654296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58784" y="460857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Enterprise auth, roles &amp; SLAs</a:t>
            </a:r>
          </a:p>
        </p:txBody>
      </p:sp>
      <p:sp>
        <p:nvSpPr>
          <p:cNvPr id="46" name="Oval 45"/>
          <p:cNvSpPr/>
          <p:nvPr/>
        </p:nvSpPr>
        <p:spPr>
          <a:xfrm>
            <a:off x="8302752" y="5276088"/>
            <a:ext cx="128016" cy="128016"/>
          </a:xfrm>
          <a:prstGeom prst="ellipse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58784" y="523036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B8B8C6"/>
                </a:solidFill>
                <a:latin typeface="Segoe UI"/>
              </a:rPr>
              <a:t>Cloud deployment &amp; monitoring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E600"/>
                </a:solidFill>
                <a:latin typeface="Segoe U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Autonomous PO-to-Fulfillment 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59536" y="3794760"/>
            <a:ext cx="2743200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233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B8B8C6"/>
                </a:solidFill>
                <a:latin typeface="Segoe UI"/>
              </a:rPr>
              <a:t>A working accelerator today — a clear path to production.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8A8A99"/>
                </a:solidFill>
                <a:latin typeface="Segoe UI"/>
              </a:rPr>
              <a:t>Next: connect live systems, add LLM-assisted reasoning, and pilot with real production POs.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