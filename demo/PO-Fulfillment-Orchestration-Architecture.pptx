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PURCHASE-ORDER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Order Assistant AI that transforms every incoming purchase order — from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intake through to shipment — into a fast, accurate and self-validating workflow, powered by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agents, with human judgement applied only where it truly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purchase order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its customers as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email, PDF, Excel and scanned documents.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is continually refreshed and older SKUs are superseded. CSRs must catch obsolete items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different units — each, kits and cases.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Customer-specific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customer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order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 pipeline / state machine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Governed master data drives every decision; the platform integrates with enterprise ERP / MDM, identity and cloud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CUSTOMER INTERACTION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80944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  (intake · live agent panels · one-click decisions · audit)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 —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36192"/>
            <a:ext cx="685800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367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PO 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52744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Process 14"/>
          <p:cNvSpPr/>
          <p:nvPr/>
        </p:nvSpPr>
        <p:spPr>
          <a:xfrm>
            <a:off x="1554480" y="22128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— digitise &amp; extract PO</a:t>
            </a:r>
          </a:p>
        </p:txBody>
      </p:sp>
      <p:sp>
        <p:nvSpPr>
          <p:cNvPr id="16" name="Process 15"/>
          <p:cNvSpPr/>
          <p:nvPr/>
        </p:nvSpPr>
        <p:spPr>
          <a:xfrm>
            <a:off x="1554480" y="27249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Reconcile every line vs master data</a:t>
            </a:r>
          </a:p>
        </p:txBody>
      </p:sp>
      <p:sp>
        <p:nvSpPr>
          <p:cNvPr id="17" name="Decision 16"/>
          <p:cNvSpPr/>
          <p:nvPr/>
        </p:nvSpPr>
        <p:spPr>
          <a:xfrm>
            <a:off x="1554480" y="32369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issues?  (obsolete SKU · qty · UOM · buyer)</a:t>
            </a:r>
          </a:p>
        </p:txBody>
      </p:sp>
      <p:sp>
        <p:nvSpPr>
          <p:cNvPr id="18" name="Process 17"/>
          <p:cNvSpPr/>
          <p:nvPr/>
        </p:nvSpPr>
        <p:spPr>
          <a:xfrm>
            <a:off x="1554480" y="40416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Validate customer, buyer &amp; product match</a:t>
            </a:r>
          </a:p>
        </p:txBody>
      </p:sp>
      <p:sp>
        <p:nvSpPr>
          <p:cNvPr id="19" name="Process 18"/>
          <p:cNvSpPr/>
          <p:nvPr/>
        </p:nvSpPr>
        <p:spPr>
          <a:xfrm>
            <a:off x="1554480" y="45537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Price · credit · inventory · logistics checks</a:t>
            </a:r>
          </a:p>
        </p:txBody>
      </p:sp>
      <p:sp>
        <p:nvSpPr>
          <p:cNvPr id="20" name="Decision 19"/>
          <p:cNvSpPr/>
          <p:nvPr/>
        </p:nvSpPr>
        <p:spPr>
          <a:xfrm>
            <a:off x="1554480" y="50657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Policy / approval exception?  (margin · credit · budget)</a:t>
            </a:r>
          </a:p>
        </p:txBody>
      </p:sp>
      <p:sp>
        <p:nvSpPr>
          <p:cNvPr id="21" name="Terminator 20"/>
          <p:cNvSpPr/>
          <p:nvPr/>
        </p:nvSpPr>
        <p:spPr>
          <a:xfrm>
            <a:off x="1554480" y="5870448"/>
            <a:ext cx="3657600" cy="420624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Sales order created  ·  notify  · 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2494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HUMAN-IN-THE-LOOP  ·  CSR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5420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B8B8C6"/>
                </a:solidFill>
                <a:latin typeface="Segoe UI"/>
              </a:rPr>
              <a:t>Blue = intake resolution    Amber = approval    Red = stop</a:t>
            </a:r>
          </a:p>
        </p:txBody>
      </p:sp>
      <p:sp>
        <p:nvSpPr>
          <p:cNvPr id="24" name="Process 23"/>
          <p:cNvSpPr/>
          <p:nvPr/>
        </p:nvSpPr>
        <p:spPr>
          <a:xfrm>
            <a:off x="7680960" y="32369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the gate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 pick</a:t>
            </a:r>
          </a:p>
        </p:txBody>
      </p:sp>
      <p:sp>
        <p:nvSpPr>
          <p:cNvPr id="25" name="Process 24"/>
          <p:cNvSpPr/>
          <p:nvPr/>
        </p:nvSpPr>
        <p:spPr>
          <a:xfrm>
            <a:off x="7680960" y="50657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Escalate</a:t>
            </a:r>
          </a:p>
        </p:txBody>
      </p:sp>
      <p:sp>
        <p:nvSpPr>
          <p:cNvPr id="26" name="Terminator 25"/>
          <p:cNvSpPr/>
          <p:nvPr/>
        </p:nvSpPr>
        <p:spPr>
          <a:xfrm>
            <a:off x="7680960" y="5870448"/>
            <a:ext cx="3931920" cy="420624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 stopped / routed to responsible team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227832" y="1993392"/>
            <a:ext cx="310896" cy="18288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383280" y="26151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83280" y="31272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383280" y="39136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474720" y="39227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0" y="44439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383280" y="49560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83280" y="57424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74720" y="57515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12080" y="3575304"/>
            <a:ext cx="246888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285232" y="33467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6035040" y="3794760"/>
            <a:ext cx="164592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35040" y="3794760"/>
            <a:ext cx="0" cy="448056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5212080" y="4242816"/>
            <a:ext cx="82296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40680" y="3602736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12080" y="5404104"/>
            <a:ext cx="246888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285232" y="51755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35040" y="5623560"/>
            <a:ext cx="164592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35040" y="5623560"/>
            <a:ext cx="0" cy="45720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212080" y="6080760"/>
            <a:ext cx="82296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40680" y="6089904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646920" y="5742432"/>
            <a:ext cx="0" cy="128016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738360" y="5742432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sourced from the enterprise systems of record.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Catalog item A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Catalog item B 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Catalog item C  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Platform &amp; enterprise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Solution components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2788920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Agent orchestration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341071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CSR workspace &amp; console</a:t>
            </a:r>
          </a:p>
        </p:txBody>
      </p:sp>
      <p:sp>
        <p:nvSpPr>
          <p:cNvPr id="16" name="Oval 15"/>
          <p:cNvSpPr/>
          <p:nvPr/>
        </p:nvSpPr>
        <p:spPr>
          <a:xfrm>
            <a:off x="841247" y="4032504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Governed master-data foundation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654296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ERP &amp; email integrations</a:t>
            </a:r>
          </a:p>
        </p:txBody>
      </p:sp>
      <p:sp>
        <p:nvSpPr>
          <p:cNvPr id="20" name="Oval 19"/>
          <p:cNvSpPr/>
          <p:nvPr/>
        </p:nvSpPr>
        <p:spPr>
          <a:xfrm>
            <a:off x="841247" y="5276088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 &amp; governance store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783080"/>
            <a:ext cx="361188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Architecture principles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788920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1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Modular agents &amp; decision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3410712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1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Resumable pipeline / state machine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4032504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1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Data-driven, not hard-coded rules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4654296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1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Human-in-the-loop by design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5276088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1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Audit-first for governance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1783080"/>
            <a:ext cx="3611880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Enterprise readiness</a:t>
            </a:r>
          </a:p>
        </p:txBody>
      </p:sp>
      <p:sp>
        <p:nvSpPr>
          <p:cNvPr id="38" name="Oval 37"/>
          <p:cNvSpPr/>
          <p:nvPr/>
        </p:nvSpPr>
        <p:spPr>
          <a:xfrm>
            <a:off x="8302752" y="2788920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Integrates with ERP / MDM / pricing</a:t>
            </a:r>
          </a:p>
        </p:txBody>
      </p:sp>
      <p:sp>
        <p:nvSpPr>
          <p:cNvPr id="40" name="Oval 39"/>
          <p:cNvSpPr/>
          <p:nvPr/>
        </p:nvSpPr>
        <p:spPr>
          <a:xfrm>
            <a:off x="8302752" y="3410712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Live master-data connectivity</a:t>
            </a:r>
          </a:p>
        </p:txBody>
      </p:sp>
      <p:sp>
        <p:nvSpPr>
          <p:cNvPr id="42" name="Oval 41"/>
          <p:cNvSpPr/>
          <p:nvPr/>
        </p:nvSpPr>
        <p:spPr>
          <a:xfrm>
            <a:off x="8302752" y="4032504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8784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LLM-assisted extraction &amp; reasoning</a:t>
            </a:r>
          </a:p>
        </p:txBody>
      </p:sp>
      <p:sp>
        <p:nvSpPr>
          <p:cNvPr id="44" name="Oval 43"/>
          <p:cNvSpPr/>
          <p:nvPr/>
        </p:nvSpPr>
        <p:spPr>
          <a:xfrm>
            <a:off x="8302752" y="4654296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58784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Enterprise auth, roles &amp; SLAs</a:t>
            </a:r>
          </a:p>
        </p:txBody>
      </p:sp>
      <p:sp>
        <p:nvSpPr>
          <p:cNvPr id="46" name="Oval 45"/>
          <p:cNvSpPr/>
          <p:nvPr/>
        </p:nvSpPr>
        <p:spPr>
          <a:xfrm>
            <a:off x="8302752" y="5276088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Cloud deployment &amp;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orchestration platform for PO-to-fulfillment.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Faster orders, protected margins and governed decisions — with human judgement where it matters.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