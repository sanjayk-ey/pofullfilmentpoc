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AI ACCELERATOR  ·  ARCHITECTURE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Autonomous Purchase Order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to 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411480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976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 team of specialised AI agents that validate, price, source, plan and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create orders end-to-end — with human-in-the-loop control on exceptions.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8A8A99"/>
                </a:solidFill>
                <a:latin typeface="Segoe UI"/>
              </a:rPr>
              <a:t>Includes: Happy Flow (straight-through processing)   ·   CSR Approval Flow (human-in-the-loop)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The order-management challenge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44752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PO-to-Fulfillment Orchestration  ·  AI Accelerator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5394960" cy="196596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82296" cy="19659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084832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Manual, repetitive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670048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CSRs re-key POs and check every line against multiple systems — catalog, pricing, credit, inventory, buyer directory.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28800"/>
            <a:ext cx="5394960" cy="196596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828800"/>
            <a:ext cx="82296" cy="19659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2084832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Slow, error-prone intake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670048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Obsolete SKUs, bad quantities, mismatched units and unknown buyers stall orders and cause costly mistakes.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069080"/>
            <a:ext cx="5394960" cy="196596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069080"/>
            <a:ext cx="82296" cy="19659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25112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Inconsistent decisions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10328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Policy interpretation varies by person; margin, credit and approval rules are applied unevenly.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069080"/>
            <a:ext cx="5394960" cy="196596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4069080"/>
            <a:ext cx="82296" cy="19659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79" y="4325112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Limited traceability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79" y="4910328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Little audit of who decided what and why — hard to govern and improve.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Agentic orchestration with human-in-the-loop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44752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PO-to-Fulfillment Orchestration  ·  AI Accelerator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B8B8C6"/>
                </a:solidFill>
                <a:latin typeface="Segoe UI"/>
              </a:rPr>
              <a:t>An orchestration engine runs a pipeline of specialist AI agents. Each agent makes master-data-driven decisions automatically and only pauses for a human when a decision is ambiguous or breaches policy.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46888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68880"/>
            <a:ext cx="2670048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2852928"/>
            <a:ext cx="502920" cy="502920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566160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Straight-through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251960"/>
            <a:ext cx="216712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are validated, priced, sourced, planned and created with zero human touch.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46888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2468880"/>
            <a:ext cx="2670048" cy="109728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0168" y="2852928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3566160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251960"/>
            <a:ext cx="216712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Risky or ambiguous decisions pause the pipeline and hand off to a CSR, then resume automatically.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79" y="246888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2468880"/>
            <a:ext cx="2670048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9088" y="2852928"/>
            <a:ext cx="502920" cy="502920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799" y="3566160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Master-data driven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251960"/>
            <a:ext cx="216712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Decisions come from governed master data — not hard-coded rules — so behaviour is transparent and tunable.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399" y="246888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15399" y="2468880"/>
            <a:ext cx="2670048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08007" y="2852928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3566160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Fully auditable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4251960"/>
            <a:ext cx="216712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automated and human decision is captured with its rationale for governance and traceability.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High-level solution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44752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PO-to-Fulfillment Orchestration  ·  AI Accelerator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11091672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27432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EXPERIENCE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CSR Workspace 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847088"/>
            <a:ext cx="2468880" cy="457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Conversational order intake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47088"/>
            <a:ext cx="2468880" cy="457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Live agent panels &amp; audit trail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847088"/>
            <a:ext cx="2468880" cy="457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One-click CSR decisions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43600" y="2514600"/>
            <a:ext cx="365760" cy="29260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926080"/>
            <a:ext cx="11091672" cy="1600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926080"/>
            <a:ext cx="11091672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108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ORCHESTRATION ENGINE</a:t>
            </a:r>
            <a:r>
              <a:rPr sz="1000" b="0" i="1">
                <a:solidFill>
                  <a:srgbClr val="8A8A99"/>
                </a:solidFill>
                <a:latin typeface="Segoe UI"/>
              </a:rPr>
              <a:t>   (resumable pipeline / state machine)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611880"/>
            <a:ext cx="1234440" cy="74980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21408" y="3611880"/>
            <a:ext cx="1234440" cy="74980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65576" y="3611880"/>
            <a:ext cx="1234440" cy="74980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9744" y="3611880"/>
            <a:ext cx="1234440" cy="74980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3611880"/>
            <a:ext cx="1234440" cy="74980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0" y="3611880"/>
            <a:ext cx="1234440" cy="74980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42248" y="3611880"/>
            <a:ext cx="1234440" cy="74980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86416" y="3611880"/>
            <a:ext cx="1234440" cy="74980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4074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B8B8C6"/>
                </a:solidFill>
                <a:latin typeface="Segoe UI"/>
              </a:rPr>
              <a:t>Cross-cutting:  Exception Governance &amp; Routing   ·   Order Execution   ·   Mock Integrations (email / ERP)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943600" y="4553712"/>
            <a:ext cx="365760" cy="27432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956048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04748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413248"/>
            <a:ext cx="1033271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79091" y="5413248"/>
            <a:ext cx="1033271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80944" y="5413248"/>
            <a:ext cx="1033271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82795" y="5413248"/>
            <a:ext cx="1033271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84647" y="5413248"/>
            <a:ext cx="1033271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86499" y="5413248"/>
            <a:ext cx="1033271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88351" y="5413248"/>
            <a:ext cx="1033271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90203" y="5413248"/>
            <a:ext cx="1033271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Budget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92055" y="5413248"/>
            <a:ext cx="1033271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Compliance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693907" y="5413248"/>
            <a:ext cx="1033271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Governance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The AI agent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44752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PO-to-Fulfillment Orchestration  ·  AI Accelerator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Intake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Digitises the raw PO, extracts header/buyer/ship-to/lines, and reconciles every line against master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Obsolete SKU · bad qty · UOM · unknown buyer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Customer Validation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Resolves customer &amp; account hierarchy, validates ship-to, and authorises the buyer.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Account · ship-to · buyer authority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Product Matching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each SKU against the catalog and runs the compliance sub-check.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Catalog match · compliance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Pricing &amp; Promo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Builds the price waterfall (list → contract → tier → promo → rebate → net) and totals.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Margin / discount policy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2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35424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Credit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Checks order value against available credit and payment terms.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5424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Credit limit · terms · risk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10144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6175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Inventory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5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Sources each line across distribution centres and confirms availability.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5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ATP · allocation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Shipments Agent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carrier serviceability, freight and delivery SLA.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Fulfillment plan · ETA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79392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79392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35424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Approvals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35424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Runs the approval-matrix / budget check last, before execution.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35424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Budget · self-approval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10144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10144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66175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Order Execution Agent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6175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Creates the sales order and emits the completion record.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5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Order created · audit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Master data drives every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44752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PO-to-Fulfillment Orchestration  ·  AI Accelerator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B8B8C6"/>
                </a:solidFill>
                <a:latin typeface="Segoe UI"/>
              </a:rPr>
              <a:t>Each agent reads governed master data (mock Excel workbooks in the POC; enterprise systems in production). Change the data, not the code, to change behaviour.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2144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Customer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Account hierarchy, tiers, buying history, fulfillment rules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Buyer profiles, roles, permissions, product-family access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11312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13648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Product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Catalog, lifecycle status, substitutes, UOM conversions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808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2144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Price lists, contracts, volume tiers, promos, rebates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80559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82896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2896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Credit limits, available credit, payment terms, risk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10144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11312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13648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3648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Plant / DC stock, in-transit, ATP, allocation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49808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52144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Carriers, serviceability, freight, delivery SLA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79392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480559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82896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Budget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82896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Cost-centre budgets, approval matrix, buyer authority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10144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211312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13648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13648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Regional restrictions, approvals, required documents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239512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49808" y="5513832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52144" y="536752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" y="569671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Exception routing, escalation targets, SLAs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The orchestration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44752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PO-to-Fulfillment Orchestration  ·  AI Accelerator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Sequential decision layers thread a shared context. The pipeline pauses on the first exception and resumes after the CSR decides.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1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11" name="Chevron 10"/>
          <p:cNvSpPr/>
          <p:nvPr/>
        </p:nvSpPr>
        <p:spPr>
          <a:xfrm>
            <a:off x="17190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99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3" name="Chevron 12"/>
          <p:cNvSpPr/>
          <p:nvPr/>
        </p:nvSpPr>
        <p:spPr>
          <a:xfrm>
            <a:off x="30220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7296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432511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7598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17" name="Chevron 16"/>
          <p:cNvSpPr/>
          <p:nvPr/>
        </p:nvSpPr>
        <p:spPr>
          <a:xfrm>
            <a:off x="562813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7900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19" name="Chevron 18"/>
          <p:cNvSpPr/>
          <p:nvPr/>
        </p:nvSpPr>
        <p:spPr>
          <a:xfrm>
            <a:off x="693115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820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6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1" name="Chevron 20"/>
          <p:cNvSpPr/>
          <p:nvPr/>
        </p:nvSpPr>
        <p:spPr>
          <a:xfrm>
            <a:off x="82341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850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3" name="Chevron 22"/>
          <p:cNvSpPr/>
          <p:nvPr/>
        </p:nvSpPr>
        <p:spPr>
          <a:xfrm>
            <a:off x="95371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88067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8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10090404" y="3291839"/>
            <a:ext cx="365760" cy="29260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63840" y="3611880"/>
            <a:ext cx="3767328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Order Execution Agent  ·  create order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611880"/>
            <a:ext cx="7040880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B8B8C6"/>
                </a:solidFill>
                <a:latin typeface="Segoe UI"/>
              </a:rPr>
              <a:t>Exception Governance &amp; Routing  —  runs on every order (records + routes exceptions)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709160"/>
            <a:ext cx="73152" cy="13716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Pauses on first exception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The pipeline stops at the layer that needs a decision — nothing downstream runs on bad data.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9392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79392" y="4709160"/>
            <a:ext cx="73152" cy="137160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35424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Resumes automatically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5424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Once the CSR decides, the shared context is updated and the pipeline continues from where it paused.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0144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10144" y="4709160"/>
            <a:ext cx="73152" cy="13716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6175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Approvals run last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5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Budget / approval-matrix check runs only after product, pricing, credit, inventory and logistics pass.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PROCESSING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One engine, two paths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44752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PO-to-Fulfillment Orchestration  ·  AI Accelerator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5440680" cy="118872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35C759"/>
                </a:solidFill>
                <a:latin typeface="Segoe UI"/>
              </a:rPr>
              <a:t>HAPPY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Straight-through processing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02666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Clean PO, no ambiguity or policy breach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52958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Every agent validates &amp; passes automatically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032503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Zero human intervention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453542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Order created in a single pass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503834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Full audit trail produced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order created with no CSR touch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440680" cy="11887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B020"/>
                </a:solidFill>
                <a:latin typeface="Segoe UI"/>
              </a:rPr>
              <a:t>CSR APPROVAL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28" name="Oval 27"/>
          <p:cNvSpPr/>
          <p:nvPr/>
        </p:nvSpPr>
        <p:spPr>
          <a:xfrm>
            <a:off x="6519672" y="302666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AI auto-resolves everything it can from data</a:t>
            </a:r>
          </a:p>
        </p:txBody>
      </p:sp>
      <p:sp>
        <p:nvSpPr>
          <p:cNvPr id="30" name="Oval 29"/>
          <p:cNvSpPr/>
          <p:nvPr/>
        </p:nvSpPr>
        <p:spPr>
          <a:xfrm>
            <a:off x="6519672" y="352958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93992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Ambiguous / policy-breaching items PAUSE</a:t>
            </a:r>
          </a:p>
        </p:txBody>
      </p:sp>
      <p:sp>
        <p:nvSpPr>
          <p:cNvPr id="32" name="Oval 31"/>
          <p:cNvSpPr/>
          <p:nvPr/>
        </p:nvSpPr>
        <p:spPr>
          <a:xfrm>
            <a:off x="6519672" y="4032503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93992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CSR gets a pre-investigated, one-click decision</a:t>
            </a:r>
          </a:p>
        </p:txBody>
      </p:sp>
      <p:sp>
        <p:nvSpPr>
          <p:cNvPr id="34" name="Oval 33"/>
          <p:cNvSpPr/>
          <p:nvPr/>
        </p:nvSpPr>
        <p:spPr>
          <a:xfrm>
            <a:off x="6519672" y="453542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3992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Guardrails validate every manual entry</a:t>
            </a:r>
          </a:p>
        </p:txBody>
      </p:sp>
      <p:sp>
        <p:nvSpPr>
          <p:cNvPr id="36" name="Oval 35"/>
          <p:cNvSpPr/>
          <p:nvPr/>
        </p:nvSpPr>
        <p:spPr>
          <a:xfrm>
            <a:off x="6519672" y="503834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93992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Pipeline resumes automatically after each gate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CSR decides only the exceptions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DEMO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Happy Flow — straight-through processing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44752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PO-to-Fulfillment Orchestration  ·  AI Accelerator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Submit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PO</a:t>
            </a:r>
          </a:p>
        </p:txBody>
      </p:sp>
      <p:sp>
        <p:nvSpPr>
          <p:cNvPr id="10" name="Chevron 9"/>
          <p:cNvSpPr/>
          <p:nvPr/>
        </p:nvSpPr>
        <p:spPr>
          <a:xfrm>
            <a:off x="15727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413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extract + review</a:t>
            </a:r>
          </a:p>
        </p:txBody>
      </p:sp>
      <p:sp>
        <p:nvSpPr>
          <p:cNvPr id="12" name="Chevron 11"/>
          <p:cNvSpPr/>
          <p:nvPr/>
        </p:nvSpPr>
        <p:spPr>
          <a:xfrm>
            <a:off x="26471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1576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37216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901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47960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044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390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0" name="Chevron 19"/>
          <p:cNvSpPr/>
          <p:nvPr/>
        </p:nvSpPr>
        <p:spPr>
          <a:xfrm>
            <a:off x="69448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134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2" name="Chevron 21"/>
          <p:cNvSpPr/>
          <p:nvPr/>
        </p:nvSpPr>
        <p:spPr>
          <a:xfrm>
            <a:off x="80192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87867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4" name="Chevron 23"/>
          <p:cNvSpPr/>
          <p:nvPr/>
        </p:nvSpPr>
        <p:spPr>
          <a:xfrm>
            <a:off x="90937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622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6" name="Chevron 25"/>
          <p:cNvSpPr/>
          <p:nvPr/>
        </p:nvSpPr>
        <p:spPr>
          <a:xfrm>
            <a:off x="101681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367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Created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8346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All checks pass automatically — no </a:t>
            </a:r>
            <a:r>
              <a:rPr sz="1200" b="1" i="0">
                <a:solidFill>
                  <a:srgbClr val="35C759"/>
                </a:solidFill>
                <a:latin typeface="Segoe UI"/>
              </a:rPr>
              <a:t>CSR DECISION NEEDED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banners appear.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291840"/>
            <a:ext cx="5943600" cy="26974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4564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EXAMPLE PO  —  PO-2026-30001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84048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Great Lakes Plumbing Supply Co  ·  john.miller@glps.com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Ship to: Chicago DC, IL 60639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1  SKU-CTG-4520  Ceramic Disc Cartridge     100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2  SKU-SEL-1150  Tank-to-Bowl Gasket Kit    120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3  SKU-VLV-2201  Pressure-Balancing Valve    15 EA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56832" y="3291840"/>
            <a:ext cx="4983480" cy="26974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56832" y="3291840"/>
            <a:ext cx="91440" cy="269748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AUTOMATED RESULT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8862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Subtotal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8862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$3,083.00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3434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Freight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3434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$151.62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800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Tax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8006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$271.79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03720" y="5257800"/>
            <a:ext cx="4526280" cy="18288"/>
          </a:xfrm>
          <a:prstGeom prst="rect">
            <a:avLst/>
          </a:prstGeom>
          <a:solidFill>
            <a:srgbClr val="3C3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03720" y="5349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TOTAL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53492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E600"/>
                </a:solidFill>
                <a:latin typeface="Segoe UI"/>
              </a:rPr>
              <a:t>$3,529.53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DEMO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CSR Approval Flow — five decision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44752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PO-to-Fulfillment Orchestration  ·  AI Accelerator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 single PO engineered to trigger five gates. The AI investigates, presents a one-click choice, captures the decision, and resumes.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2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Obsolete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1 SKU is obsolete — AI proposes approved substitutes with price impact.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07208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63240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Invalid quantity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6664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4 quantity is 0 — CSR enters a valid, positive whole number (validated).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26664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65776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65776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21808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UOM conversion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5 ordered in EA but sold in KIT — CSR picks the kit quantity to fulfil.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85232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24344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24344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580375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Unresolved buyer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PO email isn't a registered buyer — CSR selects from the account's buyers.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3800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82912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82912" y="2148840"/>
            <a:ext cx="2148840" cy="9144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38944" y="2423160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2368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Pricing / margin exception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02368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Discount 21.5% exceeds the 10% family policy — CSR approves the override.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02368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B8B8C6"/>
                </a:solidFill>
                <a:latin typeface="Segoe UI"/>
              </a:rPr>
              <a:t>Blue = INTAKE gates (data reconciliation)      Amber = PIPELINE gate (policy breach)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486400"/>
            <a:ext cx="11091672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486400"/>
            <a:ext cx="91440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5961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Approx. order total after CSR choices: </a:t>
            </a:r>
            <a:r>
              <a:rPr sz="1300" b="1" i="0">
                <a:solidFill>
                  <a:srgbClr val="FFE600"/>
                </a:solidFill>
                <a:latin typeface="Segoe UI"/>
              </a:rPr>
              <a:t>$10,659.50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  —   five multi-system lookups reduced to five one-click decisions.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Exception model &amp; escalation routing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44752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PO-to-Fulfillment Orchestration  ·  AI Accelerator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91440" cy="21031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4A9EFF"/>
                </a:solidFill>
                <a:latin typeface="Segoe UI"/>
              </a:rPr>
              <a:t>INTAKE GATES  —  data reconciliation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Obsolete / substitute SKU  ·  unresolved or missing SKU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Invalid quantity  ·  unit-of-measure conversion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Unresolved buyer  ·  partial / unresolved ship-to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3912" y="1737360"/>
            <a:ext cx="91440" cy="210312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B020"/>
                </a:solidFill>
                <a:latin typeface="Segoe UI"/>
              </a:rPr>
              <a:t>PIPELINE GATES  —  policy breach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Pricing / margin-policy exception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Credit hold  ·  budget exceeded / approval required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Compliance restriction  ·  inventory / logistics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Every exception is routed to the responsible team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Product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SKU / substitution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07208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08376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Order Ops Supervisor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8376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Quantity / intake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65776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66944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Sales Ops / Account Mgr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6944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Buyer / ship-to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24344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Pricing Desk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Margin exception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82912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Credit / Approver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Credit &amp; budget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Built-in audit &amp;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44752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PO-to-Fulfillment Orchestration  ·  AI Accelerator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Every decision is captured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560320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146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What the agent decided automatically from master data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182112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Why it paused for a CSR (the exception &amp; rationale)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803904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75818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exact action the CSR took (approve / pick / enter)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425696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37997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final outcome applied to the order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5047488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00176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Step-by-step audit trail per decision layer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783080"/>
            <a:ext cx="5486400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0116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WHY IT MATTERS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2514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284378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Consistent, policy-aligned decisions across all CSRs.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3337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366674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Full lineage of automated and human decisions.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2" y="41605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Continuous improvement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44897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Exception patterns reveal data &amp; policy gaps to fix.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4983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Compliance-ready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531266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Defensible record for audits and disputes.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Technology &amp;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44752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PO-to-Fulfillment Orchestration  ·  AI Accelerator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3611880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POC (today)</a:t>
            </a:r>
          </a:p>
        </p:txBody>
      </p:sp>
      <p:sp>
        <p:nvSpPr>
          <p:cNvPr id="12" name="Oval 11"/>
          <p:cNvSpPr/>
          <p:nvPr/>
        </p:nvSpPr>
        <p:spPr>
          <a:xfrm>
            <a:off x="841247" y="2788920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Python orchestration engine</a:t>
            </a:r>
          </a:p>
        </p:txBody>
      </p:sp>
      <p:sp>
        <p:nvSpPr>
          <p:cNvPr id="14" name="Oval 13"/>
          <p:cNvSpPr/>
          <p:nvPr/>
        </p:nvSpPr>
        <p:spPr>
          <a:xfrm>
            <a:off x="841247" y="3410712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Streamlit CSR workspace UI</a:t>
            </a:r>
          </a:p>
        </p:txBody>
      </p:sp>
      <p:sp>
        <p:nvSpPr>
          <p:cNvPr id="16" name="Oval 15"/>
          <p:cNvSpPr/>
          <p:nvPr/>
        </p:nvSpPr>
        <p:spPr>
          <a:xfrm>
            <a:off x="841247" y="4032504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Master data as Excel workbooks</a:t>
            </a:r>
          </a:p>
        </p:txBody>
      </p:sp>
      <p:sp>
        <p:nvSpPr>
          <p:cNvPr id="18" name="Oval 17"/>
          <p:cNvSpPr/>
          <p:nvPr/>
        </p:nvSpPr>
        <p:spPr>
          <a:xfrm>
            <a:off x="841247" y="4654296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Mock integrations (email / ERP)</a:t>
            </a:r>
          </a:p>
        </p:txBody>
      </p:sp>
      <p:sp>
        <p:nvSpPr>
          <p:cNvPr id="20" name="Oval 19"/>
          <p:cNvSpPr/>
          <p:nvPr/>
        </p:nvSpPr>
        <p:spPr>
          <a:xfrm>
            <a:off x="841247" y="5276088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Runs locally — fast to demo &amp; iterate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1783080"/>
            <a:ext cx="3611880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Architecture principles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0" y="2788920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1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Modular agents &amp; decision layers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0" y="3410712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28031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Resumable pipeline / state machine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0" y="4032504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28031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Data-driven, not hard-coded rules</a:t>
            </a:r>
          </a:p>
        </p:txBody>
      </p:sp>
      <p:sp>
        <p:nvSpPr>
          <p:cNvPr id="31" name="Oval 30"/>
          <p:cNvSpPr/>
          <p:nvPr/>
        </p:nvSpPr>
        <p:spPr>
          <a:xfrm>
            <a:off x="4572000" y="4654296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1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Human-in-the-loop by design</a:t>
            </a:r>
          </a:p>
        </p:txBody>
      </p:sp>
      <p:sp>
        <p:nvSpPr>
          <p:cNvPr id="33" name="Oval 32"/>
          <p:cNvSpPr/>
          <p:nvPr/>
        </p:nvSpPr>
        <p:spPr>
          <a:xfrm>
            <a:off x="4572000" y="5276088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28031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Audit-first for governance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10144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10144" y="1783080"/>
            <a:ext cx="3611880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4464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Production path</a:t>
            </a:r>
          </a:p>
        </p:txBody>
      </p:sp>
      <p:sp>
        <p:nvSpPr>
          <p:cNvPr id="38" name="Oval 37"/>
          <p:cNvSpPr/>
          <p:nvPr/>
        </p:nvSpPr>
        <p:spPr>
          <a:xfrm>
            <a:off x="8302752" y="2788920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58784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Connect to ERP / MDM / pricing systems</a:t>
            </a:r>
          </a:p>
        </p:txBody>
      </p:sp>
      <p:sp>
        <p:nvSpPr>
          <p:cNvPr id="40" name="Oval 39"/>
          <p:cNvSpPr/>
          <p:nvPr/>
        </p:nvSpPr>
        <p:spPr>
          <a:xfrm>
            <a:off x="8302752" y="3410712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8784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Swap workbooks for live master data</a:t>
            </a:r>
          </a:p>
        </p:txBody>
      </p:sp>
      <p:sp>
        <p:nvSpPr>
          <p:cNvPr id="42" name="Oval 41"/>
          <p:cNvSpPr/>
          <p:nvPr/>
        </p:nvSpPr>
        <p:spPr>
          <a:xfrm>
            <a:off x="8302752" y="4032504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58784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LLM-assisted extraction &amp; reasoning</a:t>
            </a:r>
          </a:p>
        </p:txBody>
      </p:sp>
      <p:sp>
        <p:nvSpPr>
          <p:cNvPr id="44" name="Oval 43"/>
          <p:cNvSpPr/>
          <p:nvPr/>
        </p:nvSpPr>
        <p:spPr>
          <a:xfrm>
            <a:off x="8302752" y="4654296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58784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Enterprise auth, roles &amp; SLAs</a:t>
            </a:r>
          </a:p>
        </p:txBody>
      </p:sp>
      <p:sp>
        <p:nvSpPr>
          <p:cNvPr id="46" name="Oval 45"/>
          <p:cNvSpPr/>
          <p:nvPr/>
        </p:nvSpPr>
        <p:spPr>
          <a:xfrm>
            <a:off x="8302752" y="5276088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58784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Cloud deployment &amp; monitoring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Business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44752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PO-to-Fulfillment Orchestration  ·  AI Accelerator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1984248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E600"/>
                </a:solidFill>
                <a:latin typeface="Segoe UI"/>
              </a:rPr>
              <a:t>Straight-through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46888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Clean orders processed with zero manual effort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78308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178308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984248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E600"/>
                </a:solidFill>
                <a:latin typeface="Segoe UI"/>
              </a:rPr>
              <a:t>Faster cycle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46888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Investigation done in seconds, not minutes of lookups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178308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178308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984248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E600"/>
                </a:solidFill>
                <a:latin typeface="Segoe UI"/>
              </a:rPr>
              <a:t>Fewer errors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46888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Guardrails validate SKUs, quantities, units and buyers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64991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364991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356616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E600"/>
                </a:solidFill>
                <a:latin typeface="Segoe UI"/>
              </a:rPr>
              <a:t>Consistent decisions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40507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Policy applied uniformly from governed master data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3364991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9392" y="3364991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712" y="356616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E600"/>
                </a:solidFill>
                <a:latin typeface="Segoe UI"/>
              </a:rPr>
              <a:t>CSR focus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40507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People spend time only on genuine judgement calls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3364991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10144" y="3364991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4464" y="356616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E600"/>
                </a:solidFill>
                <a:latin typeface="Segoe UI"/>
              </a:rPr>
              <a:t>Full auditability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4464" y="40507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Every decision captured for governance &amp; trust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Autonomous PO-to-Fulfillment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79476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 working accelerator today — a clear path to production.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8A8A99"/>
                </a:solidFill>
                <a:latin typeface="Segoe UI"/>
              </a:rPr>
              <a:t>Next: connect live systems, add LLM-assisted reasoning, and pilot with real POs.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