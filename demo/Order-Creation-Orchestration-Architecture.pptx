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28016"/>
            <a:ext cx="8229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10896"/>
            <a:ext cx="11521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Order Creation &amp; Orchestration — Architecture </a:t>
            </a:r>
            <a:r>
              <a:rPr sz="1800" b="1" i="0">
                <a:solidFill>
                  <a:srgbClr val="FFE600"/>
                </a:solidFill>
                <a:latin typeface="Segoe UI"/>
              </a:rPr>
              <a:t>with Human-in-the-Loop Governance</a:t>
            </a:r>
          </a:p>
        </p:txBody>
      </p:sp>
      <p:sp>
        <p:nvSpPr>
          <p:cNvPr id="6" name="Oval 5"/>
          <p:cNvSpPr/>
          <p:nvPr/>
        </p:nvSpPr>
        <p:spPr>
          <a:xfrm>
            <a:off x="4160520" y="658368"/>
            <a:ext cx="146304" cy="146304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114800" y="804672"/>
            <a:ext cx="237744" cy="128016"/>
          </a:xfrm>
          <a:prstGeom prst="round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80560" y="621792"/>
            <a:ext cx="3611880" cy="310896"/>
          </a:xfrm>
          <a:prstGeom prst="roundRect">
            <a:avLst>
              <a:gd name="adj" fmla="val 5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FFFFFF"/>
                </a:solidFill>
                <a:latin typeface="Segoe UI"/>
              </a:rPr>
              <a:t>“Need 250 units of SKU SV-200  ·  deliver to ZIP 75201”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932688"/>
            <a:ext cx="4572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8A8A99"/>
                </a:solidFill>
                <a:latin typeface="Segoe UI"/>
              </a:rPr>
              <a:t>CSR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005840"/>
            <a:ext cx="11640312" cy="2743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1051560"/>
            <a:ext cx="2377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1">
                <a:solidFill>
                  <a:srgbClr val="14141E"/>
                </a:solidFill>
                <a:latin typeface="Segoe UI"/>
              </a:rPr>
              <a:t>Customer Interaction 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060704"/>
            <a:ext cx="1920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4141E"/>
                </a:solidFill>
                <a:latin typeface="Segoe UI"/>
              </a:rPr>
              <a:t>✉  Email 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1060704"/>
            <a:ext cx="1920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4141E"/>
                </a:solidFill>
                <a:latin typeface="Segoe UI"/>
              </a:rPr>
              <a:t>▤  PDF 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060704"/>
            <a:ext cx="1920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4141E"/>
                </a:solidFill>
                <a:latin typeface="Segoe UI"/>
              </a:rPr>
              <a:t>▦  Excel 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0" y="1060704"/>
            <a:ext cx="1920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4141E"/>
                </a:solidFill>
                <a:latin typeface="Segoe UI"/>
              </a:rPr>
              <a:t>⌗  Scanned PO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335024"/>
            <a:ext cx="11640312" cy="3602736"/>
          </a:xfrm>
          <a:prstGeom prst="roundRect">
            <a:avLst>
              <a:gd name="adj" fmla="val 5000"/>
            </a:avLst>
          </a:prstGeom>
          <a:solidFill>
            <a:srgbClr val="0E0E16"/>
          </a:solidFill>
          <a:ln w="1270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1380744"/>
            <a:ext cx="116403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E600"/>
                </a:solidFill>
                <a:latin typeface="Segoe UI"/>
              </a:rPr>
              <a:t>⚙  Decision Layer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1645920"/>
            <a:ext cx="1234440" cy="402336"/>
          </a:xfrm>
          <a:prstGeom prst="roundRect">
            <a:avLst>
              <a:gd name="adj" fmla="val 5000"/>
            </a:avLst>
          </a:prstGeom>
          <a:solidFill>
            <a:srgbClr val="303B52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Intake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645920"/>
            <a:ext cx="1234440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5760" y="2084832"/>
            <a:ext cx="1234440" cy="2779775"/>
          </a:xfrm>
          <a:prstGeom prst="roundRect">
            <a:avLst>
              <a:gd name="adj" fmla="val 5000"/>
            </a:avLst>
          </a:prstGeom>
          <a:solidFill>
            <a:srgbClr val="222230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" y="2139696"/>
            <a:ext cx="1088136" cy="26883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60" b="1" i="0">
                <a:solidFill>
                  <a:srgbClr val="FFE600"/>
                </a:solidFill>
                <a:latin typeface="Segoe UI"/>
              </a:rPr>
              <a:t>Extracts: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C2C2D0"/>
                </a:solidFill>
                <a:latin typeface="Segoe UI"/>
              </a:rPr>
              <a:t>• SKU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C2C2D0"/>
                </a:solidFill>
                <a:latin typeface="Segoe UI"/>
              </a:rPr>
              <a:t>• Qty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C2C2D0"/>
                </a:solidFill>
                <a:latin typeface="Segoe UI"/>
              </a:rPr>
              <a:t>• Ship-to ZIP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C2C2D0"/>
                </a:solidFill>
                <a:latin typeface="Segoe UI"/>
              </a:rPr>
              <a:t>• Delivery date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1" i="0">
                <a:solidFill>
                  <a:srgbClr val="FFE600"/>
                </a:solidFill>
                <a:latin typeface="Segoe UI"/>
              </a:rPr>
              <a:t>Example O/P: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FFFFFF"/>
                </a:solidFill>
                <a:latin typeface="Segoe UI"/>
              </a:rPr>
              <a:t>SKU → SV-200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FFFFFF"/>
                </a:solidFill>
                <a:latin typeface="Segoe UI"/>
              </a:rPr>
              <a:t>Qty → 250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FFFFFF"/>
                </a:solidFill>
                <a:latin typeface="Segoe UI"/>
              </a:rPr>
              <a:t>ZIP → 75201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643634" y="1645920"/>
            <a:ext cx="1234440" cy="402336"/>
          </a:xfrm>
          <a:prstGeom prst="roundRect">
            <a:avLst>
              <a:gd name="adj" fmla="val 5000"/>
            </a:avLst>
          </a:prstGeom>
          <a:solidFill>
            <a:srgbClr val="303B52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Validation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43634" y="1645920"/>
            <a:ext cx="1234440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43634" y="2084832"/>
            <a:ext cx="1234440" cy="2779775"/>
          </a:xfrm>
          <a:prstGeom prst="roundRect">
            <a:avLst>
              <a:gd name="adj" fmla="val 5000"/>
            </a:avLst>
          </a:prstGeom>
          <a:solidFill>
            <a:srgbClr val="222230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25930" y="2139696"/>
            <a:ext cx="1088136" cy="26883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60" b="1" i="0">
                <a:solidFill>
                  <a:srgbClr val="FFE600"/>
                </a:solidFill>
                <a:latin typeface="Segoe UI"/>
              </a:rPr>
              <a:t>Identifies: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C2C2D0"/>
                </a:solidFill>
                <a:latin typeface="Segoe UI"/>
              </a:rPr>
              <a:t>• Customer tier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C2C2D0"/>
                </a:solidFill>
                <a:latin typeface="Segoe UI"/>
              </a:rPr>
              <a:t>• Account type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C2C2D0"/>
                </a:solidFill>
                <a:latin typeface="Segoe UI"/>
              </a:rPr>
              <a:t>• Contractor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C2C2D0"/>
                </a:solidFill>
                <a:latin typeface="Segoe UI"/>
              </a:rPr>
              <a:t>• Buying history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1" i="0">
                <a:solidFill>
                  <a:srgbClr val="FFE600"/>
                </a:solidFill>
                <a:latin typeface="Segoe UI"/>
              </a:rPr>
              <a:t>Example O/P: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FFFFFF"/>
                </a:solidFill>
                <a:latin typeface="Segoe UI"/>
              </a:rPr>
              <a:t>ABC Supply Co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FFFFFF"/>
                </a:solidFill>
                <a:latin typeface="Segoe UI"/>
              </a:rPr>
              <a:t>Key account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FFFFFF"/>
                </a:solidFill>
                <a:latin typeface="Segoe UI"/>
              </a:rPr>
              <a:t>Net 45 terms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21508" y="1645920"/>
            <a:ext cx="1234440" cy="402336"/>
          </a:xfrm>
          <a:prstGeom prst="roundRect">
            <a:avLst>
              <a:gd name="adj" fmla="val 5000"/>
            </a:avLst>
          </a:prstGeom>
          <a:solidFill>
            <a:srgbClr val="303B52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21508" y="1645920"/>
            <a:ext cx="1234440" cy="45720"/>
          </a:xfrm>
          <a:prstGeom prst="rect">
            <a:avLst/>
          </a:prstGeom>
          <a:solidFill>
            <a:srgbClr val="33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921508" y="2084832"/>
            <a:ext cx="1234440" cy="2779775"/>
          </a:xfrm>
          <a:prstGeom prst="roundRect">
            <a:avLst>
              <a:gd name="adj" fmla="val 5000"/>
            </a:avLst>
          </a:prstGeom>
          <a:solidFill>
            <a:srgbClr val="222230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03804" y="2139696"/>
            <a:ext cx="1088136" cy="26883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60" b="1" i="0">
                <a:solidFill>
                  <a:srgbClr val="FFE600"/>
                </a:solidFill>
                <a:latin typeface="Segoe UI"/>
              </a:rPr>
              <a:t>Validates: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C2C2D0"/>
                </a:solidFill>
                <a:latin typeface="Segoe UI"/>
              </a:rPr>
              <a:t>• SKU active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C2C2D0"/>
                </a:solidFill>
                <a:latin typeface="Segoe UI"/>
              </a:rPr>
              <a:t>• UOM conversion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C2C2D0"/>
                </a:solidFill>
                <a:latin typeface="Segoe UI"/>
              </a:rPr>
              <a:t>• Compatibility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C2C2D0"/>
                </a:solidFill>
                <a:latin typeface="Segoe UI"/>
              </a:rPr>
              <a:t>• Substitutes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1" i="0">
                <a:solidFill>
                  <a:srgbClr val="FFE600"/>
                </a:solidFill>
                <a:latin typeface="Segoe UI"/>
              </a:rPr>
              <a:t>Example: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FFFFFF"/>
                </a:solidFill>
                <a:latin typeface="Segoe UI"/>
              </a:rPr>
              <a:t>AI: SV-200 obsolete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FFFFFF"/>
                </a:solidFill>
                <a:latin typeface="Segoe UI"/>
              </a:rPr>
              <a:t>→ recommend SV-220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20" b="0" i="1">
                <a:solidFill>
                  <a:srgbClr val="FFB020"/>
                </a:solidFill>
                <a:latin typeface="Segoe UI"/>
              </a:rPr>
              <a:t>CSR &gt; Approve /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20" b="0" i="1">
                <a:solidFill>
                  <a:srgbClr val="FFB020"/>
                </a:solidFill>
                <a:latin typeface="Segoe UI"/>
              </a:rPr>
              <a:t>modify / escalate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99382" y="1645920"/>
            <a:ext cx="1234440" cy="402336"/>
          </a:xfrm>
          <a:prstGeom prst="roundRect">
            <a:avLst>
              <a:gd name="adj" fmla="val 5000"/>
            </a:avLst>
          </a:prstGeom>
          <a:solidFill>
            <a:srgbClr val="303B52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Promo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99382" y="1645920"/>
            <a:ext cx="1234440" cy="45720"/>
          </a:xfrm>
          <a:prstGeom prst="rect">
            <a:avLst/>
          </a:prstGeom>
          <a:solidFill>
            <a:srgbClr val="33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199382" y="2084832"/>
            <a:ext cx="1234440" cy="2779775"/>
          </a:xfrm>
          <a:prstGeom prst="roundRect">
            <a:avLst>
              <a:gd name="adj" fmla="val 5000"/>
            </a:avLst>
          </a:prstGeom>
          <a:solidFill>
            <a:srgbClr val="222230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81678" y="2139696"/>
            <a:ext cx="1088136" cy="26883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60" b="1" i="0">
                <a:solidFill>
                  <a:srgbClr val="FFE600"/>
                </a:solidFill>
                <a:latin typeface="Segoe UI"/>
              </a:rPr>
              <a:t>Determines: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C2C2D0"/>
                </a:solidFill>
                <a:latin typeface="Segoe UI"/>
              </a:rPr>
              <a:t>• Contract price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C2C2D0"/>
                </a:solidFill>
                <a:latin typeface="Segoe UI"/>
              </a:rPr>
              <a:t>• Rebates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C2C2D0"/>
                </a:solidFill>
                <a:latin typeface="Segoe UI"/>
              </a:rPr>
              <a:t>• Volume discounts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C2C2D0"/>
                </a:solidFill>
                <a:latin typeface="Segoe UI"/>
              </a:rPr>
              <a:t>• Promos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C2C2D0"/>
                </a:solidFill>
                <a:latin typeface="Segoe UI"/>
              </a:rPr>
              <a:t>• Freight terms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1" i="0">
                <a:solidFill>
                  <a:srgbClr val="FFE600"/>
                </a:solidFill>
                <a:latin typeface="Segoe UI"/>
              </a:rPr>
              <a:t>Example: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FFFFFF"/>
                </a:solidFill>
                <a:latin typeface="Segoe UI"/>
              </a:rPr>
              <a:t>List $120 · Contract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FFFFFF"/>
                </a:solidFill>
                <a:latin typeface="Segoe UI"/>
              </a:rPr>
              <a:t>$105 · Vol 5% → $99.75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20" b="0" i="1">
                <a:solidFill>
                  <a:srgbClr val="FFB020"/>
                </a:solidFill>
                <a:latin typeface="Segoe UI"/>
              </a:rPr>
              <a:t>CSR &gt; discount &gt;10%: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20" b="0" i="1">
                <a:solidFill>
                  <a:srgbClr val="FFB020"/>
                </a:solidFill>
                <a:latin typeface="Segoe UI"/>
              </a:rPr>
              <a:t>“margin impact $12K —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20" b="0" i="1">
                <a:solidFill>
                  <a:srgbClr val="FFB020"/>
                </a:solidFill>
                <a:latin typeface="Segoe UI"/>
              </a:rPr>
              <a:t>approve exception?”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77256" y="1645920"/>
            <a:ext cx="1234440" cy="402336"/>
          </a:xfrm>
          <a:prstGeom prst="roundRect">
            <a:avLst>
              <a:gd name="adj" fmla="val 5000"/>
            </a:avLst>
          </a:prstGeom>
          <a:solidFill>
            <a:srgbClr val="303B52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Approval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77256" y="1645920"/>
            <a:ext cx="1234440" cy="45720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477256" y="2084832"/>
            <a:ext cx="1234440" cy="2779775"/>
          </a:xfrm>
          <a:prstGeom prst="roundRect">
            <a:avLst>
              <a:gd name="adj" fmla="val 5000"/>
            </a:avLst>
          </a:prstGeom>
          <a:solidFill>
            <a:srgbClr val="222230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59552" y="2139696"/>
            <a:ext cx="1088136" cy="26883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60" b="1" i="0">
                <a:solidFill>
                  <a:srgbClr val="FFE600"/>
                </a:solidFill>
                <a:latin typeface="Segoe UI"/>
              </a:rPr>
              <a:t>Evaluates: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C2C2D0"/>
                </a:solidFill>
                <a:latin typeface="Segoe UI"/>
              </a:rPr>
              <a:t>• Margin rules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C2C2D0"/>
                </a:solidFill>
                <a:latin typeface="Segoe UI"/>
              </a:rPr>
              <a:t>• Discount limits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C2C2D0"/>
                </a:solidFill>
                <a:latin typeface="Segoe UI"/>
              </a:rPr>
              <a:t>• Approval matrix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C2C2D0"/>
                </a:solidFill>
                <a:latin typeface="Segoe UI"/>
              </a:rPr>
              <a:t>• Auto-approval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1" i="0">
                <a:solidFill>
                  <a:srgbClr val="FFE600"/>
                </a:solidFill>
                <a:latin typeface="Segoe UI"/>
              </a:rPr>
              <a:t>Example: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FFFFFF"/>
                </a:solidFill>
                <a:latin typeface="Segoe UI"/>
              </a:rPr>
              <a:t>Order &lt; $100K ·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FFFFFF"/>
                </a:solidFill>
                <a:latin typeface="Segoe UI"/>
              </a:rPr>
              <a:t>Margin &gt; 15% →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1" i="0">
                <a:solidFill>
                  <a:srgbClr val="35C759"/>
                </a:solidFill>
                <a:latin typeface="Segoe UI"/>
              </a:rPr>
              <a:t>Auto Approval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55130" y="1645920"/>
            <a:ext cx="1234440" cy="402336"/>
          </a:xfrm>
          <a:prstGeom prst="roundRect">
            <a:avLst>
              <a:gd name="adj" fmla="val 5000"/>
            </a:avLst>
          </a:prstGeom>
          <a:solidFill>
            <a:srgbClr val="303B52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Credit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55130" y="1645920"/>
            <a:ext cx="1234440" cy="45720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755130" y="2084832"/>
            <a:ext cx="1234440" cy="2779775"/>
          </a:xfrm>
          <a:prstGeom prst="roundRect">
            <a:avLst>
              <a:gd name="adj" fmla="val 5000"/>
            </a:avLst>
          </a:prstGeom>
          <a:solidFill>
            <a:srgbClr val="222230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37426" y="2139696"/>
            <a:ext cx="1088136" cy="26883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60" b="1" i="0">
                <a:solidFill>
                  <a:srgbClr val="FFE600"/>
                </a:solidFill>
                <a:latin typeface="Segoe UI"/>
              </a:rPr>
              <a:t>Checks: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C2C2D0"/>
                </a:solidFill>
                <a:latin typeface="Segoe UI"/>
              </a:rPr>
              <a:t>• Credit limit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C2C2D0"/>
                </a:solidFill>
                <a:latin typeface="Segoe UI"/>
              </a:rPr>
              <a:t>• Open invoices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C2C2D0"/>
                </a:solidFill>
                <a:latin typeface="Segoe UI"/>
              </a:rPr>
              <a:t>• Payment risk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C2C2D0"/>
                </a:solidFill>
                <a:latin typeface="Segoe UI"/>
              </a:rPr>
              <a:t>• Fraud signals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1" i="0">
                <a:solidFill>
                  <a:srgbClr val="FFE600"/>
                </a:solidFill>
                <a:latin typeface="Segoe UI"/>
              </a:rPr>
              <a:t>Example: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FFFFFF"/>
                </a:solidFill>
                <a:latin typeface="Segoe UI"/>
              </a:rPr>
              <a:t>Limit $500K · avail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FFFFFF"/>
                </a:solidFill>
                <a:latin typeface="Segoe UI"/>
              </a:rPr>
              <a:t>$410K → PASS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20" b="0" i="1">
                <a:solidFill>
                  <a:srgbClr val="FFB020"/>
                </a:solidFill>
                <a:latin typeface="Segoe UI"/>
              </a:rPr>
              <a:t>CSR &gt; credit hold: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20" b="0" i="1">
                <a:solidFill>
                  <a:srgbClr val="FFB020"/>
                </a:solidFill>
                <a:latin typeface="Segoe UI"/>
              </a:rPr>
              <a:t>“approve override or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20" b="0" i="1">
                <a:solidFill>
                  <a:srgbClr val="FFB020"/>
                </a:solidFill>
                <a:latin typeface="Segoe UI"/>
              </a:rPr>
              <a:t>send to Finance?”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33004" y="1645920"/>
            <a:ext cx="1234440" cy="402336"/>
          </a:xfrm>
          <a:prstGeom prst="roundRect">
            <a:avLst>
              <a:gd name="adj" fmla="val 5000"/>
            </a:avLst>
          </a:prstGeom>
          <a:solidFill>
            <a:srgbClr val="303B52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Inventory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Checks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33004" y="1645920"/>
            <a:ext cx="1234440" cy="45720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033004" y="2084832"/>
            <a:ext cx="1234440" cy="2779775"/>
          </a:xfrm>
          <a:prstGeom prst="roundRect">
            <a:avLst>
              <a:gd name="adj" fmla="val 5000"/>
            </a:avLst>
          </a:prstGeom>
          <a:solidFill>
            <a:srgbClr val="222230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15300" y="2139696"/>
            <a:ext cx="1088136" cy="26883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60" b="1" i="0">
                <a:solidFill>
                  <a:srgbClr val="FFE600"/>
                </a:solidFill>
                <a:latin typeface="Segoe UI"/>
              </a:rPr>
              <a:t>Checks: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C2C2D0"/>
                </a:solidFill>
                <a:latin typeface="Segoe UI"/>
              </a:rPr>
              <a:t>• Plant stock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C2C2D0"/>
                </a:solidFill>
                <a:latin typeface="Segoe UI"/>
              </a:rPr>
              <a:t>• DC inventory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C2C2D0"/>
                </a:solidFill>
                <a:latin typeface="Segoe UI"/>
              </a:rPr>
              <a:t>• In-transit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C2C2D0"/>
                </a:solidFill>
                <a:latin typeface="Segoe UI"/>
              </a:rPr>
              <a:t>• ATP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1" i="0">
                <a:solidFill>
                  <a:srgbClr val="FFE600"/>
                </a:solidFill>
                <a:latin typeface="Segoe UI"/>
              </a:rPr>
              <a:t>Example: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FFFFFF"/>
                </a:solidFill>
                <a:latin typeface="Segoe UI"/>
              </a:rPr>
              <a:t>DC-A 350 · DC-B 150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FFFFFF"/>
                </a:solidFill>
                <a:latin typeface="Segoe UI"/>
              </a:rPr>
              <a:t>→ avail 500 · OK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20" b="0" i="1">
                <a:solidFill>
                  <a:srgbClr val="FFB020"/>
                </a:solidFill>
                <a:latin typeface="Segoe UI"/>
              </a:rPr>
              <a:t>CSR &gt; shortage: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20" b="0" i="1">
                <a:solidFill>
                  <a:srgbClr val="FFB020"/>
                </a:solidFill>
                <a:latin typeface="Segoe UI"/>
              </a:rPr>
              <a:t>“400 now, 100 next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20" b="0" i="1">
                <a:solidFill>
                  <a:srgbClr val="FFB020"/>
                </a:solidFill>
                <a:latin typeface="Segoe UI"/>
              </a:rPr>
              <a:t>week” — CSR approves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310878" y="1645920"/>
            <a:ext cx="1234440" cy="402336"/>
          </a:xfrm>
          <a:prstGeom prst="roundRect">
            <a:avLst>
              <a:gd name="adj" fmla="val 5000"/>
            </a:avLst>
          </a:prstGeom>
          <a:solidFill>
            <a:srgbClr val="303B52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Logistics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310878" y="1645920"/>
            <a:ext cx="1234440" cy="4572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310878" y="2084832"/>
            <a:ext cx="1234440" cy="2779775"/>
          </a:xfrm>
          <a:prstGeom prst="roundRect">
            <a:avLst>
              <a:gd name="adj" fmla="val 5000"/>
            </a:avLst>
          </a:prstGeom>
          <a:solidFill>
            <a:srgbClr val="222230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93174" y="2139696"/>
            <a:ext cx="1088136" cy="26883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60" b="1" i="0">
                <a:solidFill>
                  <a:srgbClr val="FFE600"/>
                </a:solidFill>
                <a:latin typeface="Segoe UI"/>
              </a:rPr>
              <a:t>Determines: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C2C2D0"/>
                </a:solidFill>
                <a:latin typeface="Segoe UI"/>
              </a:rPr>
              <a:t>• ZIP serviceability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C2C2D0"/>
                </a:solidFill>
                <a:latin typeface="Segoe UI"/>
              </a:rPr>
              <a:t>• Carrier coverage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C2C2D0"/>
                </a:solidFill>
                <a:latin typeface="Segoe UI"/>
              </a:rPr>
              <a:t>• Delivery SLA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C2C2D0"/>
                </a:solidFill>
                <a:latin typeface="Segoe UI"/>
              </a:rPr>
              <a:t>• ETA prediction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1" i="0">
                <a:solidFill>
                  <a:srgbClr val="FFE600"/>
                </a:solidFill>
                <a:latin typeface="Segoe UI"/>
              </a:rPr>
              <a:t>Example: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FFFFFF"/>
                </a:solidFill>
                <a:latin typeface="Segoe UI"/>
              </a:rPr>
              <a:t>ZIP 75201 · carrier set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FFFFFF"/>
                </a:solidFill>
                <a:latin typeface="Segoe UI"/>
              </a:rPr>
              <a:t>· ETA Jun 29 → OK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20" b="0" i="1">
                <a:solidFill>
                  <a:srgbClr val="FFB020"/>
                </a:solidFill>
                <a:latin typeface="Segoe UI"/>
              </a:rPr>
              <a:t>CSR &gt; ZIP unsupported: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20" b="0" i="1">
                <a:solidFill>
                  <a:srgbClr val="FFB020"/>
                </a:solidFill>
                <a:latin typeface="Segoe UI"/>
              </a:rPr>
              <a:t>suggest pickup; CSR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20" b="0" i="1">
                <a:solidFill>
                  <a:srgbClr val="FFB020"/>
                </a:solidFill>
                <a:latin typeface="Segoe UI"/>
              </a:rPr>
              <a:t>reviews customer comms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588752" y="1645920"/>
            <a:ext cx="1234440" cy="402336"/>
          </a:xfrm>
          <a:prstGeom prst="roundRect">
            <a:avLst>
              <a:gd name="adj" fmla="val 5000"/>
            </a:avLst>
          </a:prstGeom>
          <a:solidFill>
            <a:srgbClr val="303B52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Optimization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588752" y="1645920"/>
            <a:ext cx="1234440" cy="4572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0588752" y="2084832"/>
            <a:ext cx="1234440" cy="2779775"/>
          </a:xfrm>
          <a:prstGeom prst="roundRect">
            <a:avLst>
              <a:gd name="adj" fmla="val 5000"/>
            </a:avLst>
          </a:prstGeom>
          <a:solidFill>
            <a:srgbClr val="222230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671048" y="2139696"/>
            <a:ext cx="1088136" cy="26883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60" b="1" i="0">
                <a:solidFill>
                  <a:srgbClr val="FFE600"/>
                </a:solidFill>
                <a:latin typeface="Segoe UI"/>
              </a:rPr>
              <a:t>Optimizes: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C2C2D0"/>
                </a:solidFill>
                <a:latin typeface="Segoe UI"/>
              </a:rPr>
              <a:t>• Warehouse choice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C2C2D0"/>
                </a:solidFill>
                <a:latin typeface="Segoe UI"/>
              </a:rPr>
              <a:t>• Shipment split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C2C2D0"/>
                </a:solidFill>
                <a:latin typeface="Segoe UI"/>
              </a:rPr>
              <a:t>• Freight cost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C2C2D0"/>
                </a:solidFill>
                <a:latin typeface="Segoe UI"/>
              </a:rPr>
              <a:t>• Inventory balance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1" i="0">
                <a:solidFill>
                  <a:srgbClr val="FFE600"/>
                </a:solidFill>
                <a:latin typeface="Segoe UI"/>
              </a:rPr>
              <a:t>Example: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FFFFFF"/>
                </a:solidFill>
                <a:latin typeface="Segoe UI"/>
              </a:rPr>
              <a:t>A: DC-A  $1,200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FFFFFF"/>
                </a:solidFill>
                <a:latin typeface="Segoe UI"/>
              </a:rPr>
              <a:t>B: DC-B  $1,700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50"/>
              </a:spcAft>
            </a:pPr>
            <a:r>
              <a:rPr sz="630" b="0" i="0">
                <a:solidFill>
                  <a:srgbClr val="FFFFFF"/>
                </a:solidFill>
                <a:latin typeface="Segoe UI"/>
              </a:rPr>
              <a:t>C: split  $1,400</a:t>
            </a:r>
          </a:p>
        </p:txBody>
      </p:sp>
      <p:sp>
        <p:nvSpPr>
          <p:cNvPr id="54" name="Down Arrow 53"/>
          <p:cNvSpPr/>
          <p:nvPr/>
        </p:nvSpPr>
        <p:spPr>
          <a:xfrm>
            <a:off x="5939028" y="4946904"/>
            <a:ext cx="310896" cy="128016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2971800" y="5065776"/>
            <a:ext cx="6245352" cy="896112"/>
          </a:xfrm>
          <a:prstGeom prst="roundRect">
            <a:avLst>
              <a:gd name="adj" fmla="val 5000"/>
            </a:avLst>
          </a:prstGeom>
          <a:solidFill>
            <a:srgbClr val="0E0E16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971800" y="5102352"/>
            <a:ext cx="624535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⚙  Execution Orchestration Layer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108960" y="5340096"/>
            <a:ext cx="1975104" cy="548640"/>
          </a:xfrm>
          <a:prstGeom prst="roundRect">
            <a:avLst>
              <a:gd name="adj" fmla="val 5000"/>
            </a:avLst>
          </a:prstGeom>
          <a:solidFill>
            <a:srgbClr val="222230"/>
          </a:solidFill>
          <a:ln w="1143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218688" y="5385816"/>
            <a:ext cx="17556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Segoe UI"/>
              </a:rPr>
              <a:t>Order  </a:t>
            </a:r>
            <a:r>
              <a:rPr sz="700" b="1" i="0">
                <a:solidFill>
                  <a:srgbClr val="35C759"/>
                </a:solidFill>
                <a:latin typeface="Segoe UI"/>
              </a:rPr>
              <a:t>Creates: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ERP sales order  OMS request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WMS pick ticket  Shipment order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166360" y="5340096"/>
            <a:ext cx="1975104" cy="548640"/>
          </a:xfrm>
          <a:prstGeom prst="roundRect">
            <a:avLst>
              <a:gd name="adj" fmla="val 5000"/>
            </a:avLst>
          </a:prstGeom>
          <a:solidFill>
            <a:srgbClr val="222230"/>
          </a:solidFill>
          <a:ln w="1143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276088" y="5385816"/>
            <a:ext cx="17556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Segoe UI"/>
              </a:rPr>
              <a:t>Communication  </a:t>
            </a:r>
            <a:r>
              <a:rPr sz="700" b="1" i="0">
                <a:solidFill>
                  <a:srgbClr val="4A9EFF"/>
                </a:solidFill>
                <a:latin typeface="Segoe UI"/>
              </a:rPr>
              <a:t>Creates: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Order accepted  Price confirmed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ETA confirmed  Tracking shared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223760" y="5340096"/>
            <a:ext cx="1975104" cy="548640"/>
          </a:xfrm>
          <a:prstGeom prst="roundRect">
            <a:avLst>
              <a:gd name="adj" fmla="val 5000"/>
            </a:avLst>
          </a:prstGeom>
          <a:solidFill>
            <a:srgbClr val="222230"/>
          </a:solidFill>
          <a:ln w="1143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333488" y="5385816"/>
            <a:ext cx="17556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Segoe UI"/>
              </a:rPr>
              <a:t>Exception Handling  </a:t>
            </a:r>
            <a:r>
              <a:rPr sz="700" b="1" i="0">
                <a:solidFill>
                  <a:srgbClr val="FFB020"/>
                </a:solidFill>
                <a:latin typeface="Segoe UI"/>
              </a:rPr>
              <a:t>Resolves: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Inventory shortage  Product obsolete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ZIP not serviceable  Approval escalation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71800" y="6007607"/>
            <a:ext cx="624535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1">
                <a:solidFill>
                  <a:srgbClr val="8A8A99"/>
                </a:solidFill>
                <a:latin typeface="Segoe UI"/>
              </a:rPr>
              <a:t>Product Substitution · Pricing Exception · Credit Hold · Inventory Shortage · Delivery Constraint · Strategic Review</a:t>
            </a:r>
          </a:p>
        </p:txBody>
      </p:sp>
      <p:sp>
        <p:nvSpPr>
          <p:cNvPr id="64" name="Down Arrow 63"/>
          <p:cNvSpPr/>
          <p:nvPr/>
        </p:nvSpPr>
        <p:spPr>
          <a:xfrm>
            <a:off x="5939028" y="6236208"/>
            <a:ext cx="310896" cy="128016"/>
          </a:xfrm>
          <a:prstGeom prst="downArrow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971800" y="6382512"/>
            <a:ext cx="624535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E600"/>
                </a:solidFill>
                <a:latin typeface="Segoe UI"/>
              </a:rPr>
              <a:t>CUSTOMER RECEIVES CONFIRMED ORDER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71800" y="6601968"/>
            <a:ext cx="624535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C2C2D0"/>
                </a:solidFill>
                <a:latin typeface="Segoe UI"/>
              </a:rPr>
              <a:t>Order #SO-98765   ·   ETA Jun 29   ·   Tracking available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475720" y="6473952"/>
            <a:ext cx="548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E600"/>
                </a:solidFill>
                <a:latin typeface="Segoe UI"/>
              </a:rPr>
              <a:t>EY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