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MULTI-AGENT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521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Order Creation &amp; Orchestration — Architecture </a:t>
            </a:r>
            <a:r>
              <a:rPr sz="1800" b="1" i="0">
                <a:solidFill>
                  <a:srgbClr val="FFE600"/>
                </a:solidFill>
                <a:latin typeface="Segoe UI"/>
              </a:rPr>
              <a:t>with Human-in-the-Loop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749808"/>
            <a:ext cx="1225296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INTAKE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&amp; RESOLUTION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" y="749808"/>
            <a:ext cx="54864" cy="9326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" y="1737360"/>
            <a:ext cx="1225296" cy="257860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ORCHESTRATION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&amp; CSR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1737360"/>
            <a:ext cx="54864" cy="257860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" y="4352544"/>
            <a:ext cx="1225296" cy="365760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" y="4352544"/>
            <a:ext cx="54864" cy="36576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" y="4773168"/>
            <a:ext cx="1225296" cy="786384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ORDER CREATION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&amp; DOWNSTREAM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" y="4773168"/>
            <a:ext cx="54864" cy="786384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" y="5614416"/>
            <a:ext cx="1225296" cy="84124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LEGACY DATA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Segoe UI"/>
              </a:rPr>
              <a:t>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" y="5614416"/>
            <a:ext cx="54864" cy="841248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2496" y="768096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E600"/>
                </a:solidFill>
                <a:latin typeface="Segoe UI"/>
              </a:rPr>
              <a:t>INTAKE — the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🤖 Intake Agent</a:t>
            </a:r>
            <a:r>
              <a:rPr sz="800" b="1" i="0">
                <a:solidFill>
                  <a:srgbClr val="FFE600"/>
                </a:solidFill>
                <a:latin typeface="Segoe UI"/>
              </a:rPr>
              <a:t> reads every PO and extracts the order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09928" y="1005840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09928" y="1005840"/>
            <a:ext cx="2468880" cy="457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1368" y="1088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4A9EFF"/>
                </a:solidFill>
                <a:latin typeface="Segoe UI"/>
              </a:rPr>
              <a:t>PO INTAKE  —  any 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1289304"/>
            <a:ext cx="228600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C2C2D0"/>
                </a:solidFill>
                <a:latin typeface="Segoe UI"/>
              </a:rPr>
              <a:t>Received as Email PO,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C2C2D0"/>
                </a:solidFill>
                <a:latin typeface="Segoe UI"/>
              </a:rPr>
              <a:t>Excel PO etc.</a:t>
            </a:r>
          </a:p>
        </p:txBody>
      </p:sp>
      <p:sp>
        <p:nvSpPr>
          <p:cNvPr id="21" name="Chevron 20"/>
          <p:cNvSpPr/>
          <p:nvPr/>
        </p:nvSpPr>
        <p:spPr>
          <a:xfrm>
            <a:off x="4224528" y="1261872"/>
            <a:ext cx="292608" cy="182880"/>
          </a:xfrm>
          <a:prstGeom prst="chevron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90288" y="1005840"/>
            <a:ext cx="7251192" cy="65836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143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90288" y="1005840"/>
            <a:ext cx="7251192" cy="457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088136"/>
            <a:ext cx="7022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A9EFF"/>
                </a:solidFill>
                <a:latin typeface="Segoe UI"/>
              </a:rPr>
              <a:t>🤖  Intake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1298448"/>
            <a:ext cx="70225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C2C2D0"/>
                </a:solidFill>
                <a:latin typeface="Segoe UI"/>
              </a:rPr>
              <a:t>extracts order fields (rule-based · confidence-scored): </a:t>
            </a:r>
            <a:r>
              <a:rPr sz="670" b="0" i="0">
                <a:solidFill>
                  <a:srgbClr val="FFFFFF"/>
                </a:solidFill>
                <a:latin typeface="Segoe UI"/>
              </a:rPr>
              <a:t>SKU · qty · UOM · ship-to ZIP · requested delivery date · PO number · customer / buyer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64208" y="1737360"/>
            <a:ext cx="10222992" cy="2578608"/>
          </a:xfrm>
          <a:prstGeom prst="roundRect">
            <a:avLst>
              <a:gd name="adj" fmla="val 6000"/>
            </a:avLst>
          </a:prstGeom>
          <a:solidFill>
            <a:srgbClr val="0E0E16"/>
          </a:solidFill>
          <a:ln w="1016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73936" y="1792224"/>
            <a:ext cx="10003536" cy="329184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E600"/>
                </a:solidFill>
                <a:latin typeface="Segoe UI"/>
              </a:rPr>
              <a:t>🤖  ORCHESTRATOR  </a:t>
            </a:r>
            <a:r>
              <a:rPr sz="730" b="0" i="0">
                <a:solidFill>
                  <a:srgbClr val="C2C2D0"/>
                </a:solidFill>
                <a:latin typeface="Segoe UI"/>
              </a:rPr>
              <a:t>coordinates a team of specialist AI agents over a shared context · resumable, pause-and-resume workflow · Approvals runs last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647688" y="2139696"/>
            <a:ext cx="256032" cy="109728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73936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Customer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Validation 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account · buyer auth · ship-to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unauthorized · cost ctr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73936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2934081" y="2688336"/>
            <a:ext cx="128016" cy="164592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34664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Product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Matching 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catalog · compliance &amp; SDS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obsolete · UOM · restrict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34664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4194810" y="2688336"/>
            <a:ext cx="128016" cy="164592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5394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Pricing &amp;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Promo 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contract · promo · margin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margin · discount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5394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Chevron 36"/>
          <p:cNvSpPr/>
          <p:nvPr/>
        </p:nvSpPr>
        <p:spPr>
          <a:xfrm>
            <a:off x="5455539" y="2688336"/>
            <a:ext cx="128016" cy="164592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556123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Credit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limit · terms · risk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credit hold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56123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Chevron 39"/>
          <p:cNvSpPr/>
          <p:nvPr/>
        </p:nvSpPr>
        <p:spPr>
          <a:xfrm>
            <a:off x="6716268" y="2688336"/>
            <a:ext cx="128016" cy="164592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16852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Inventory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DC stock · ATP · alloc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shortage · alloc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6852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Chevron 42"/>
          <p:cNvSpPr/>
          <p:nvPr/>
        </p:nvSpPr>
        <p:spPr>
          <a:xfrm>
            <a:off x="7976997" y="2688336"/>
            <a:ext cx="128016" cy="164592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77581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Shipments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carrier · service · SLA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delivery · SLA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77581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9237726" y="2688336"/>
            <a:ext cx="128016" cy="164592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38309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Optimization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plan A/B/C · freight · split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least-cost plan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38309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10498455" y="2688336"/>
            <a:ext cx="128016" cy="164592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599038" y="2304288"/>
            <a:ext cx="1178432" cy="9326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016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🤖 </a:t>
            </a:r>
            <a:r>
              <a:rPr sz="720" b="1" i="0">
                <a:solidFill>
                  <a:srgbClr val="FFFFFF"/>
                </a:solidFill>
                <a:latin typeface="Segoe UI"/>
              </a:rPr>
              <a:t>Approvals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Segoe UI"/>
              </a:rPr>
              <a:t>Agent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C2C2D0"/>
                </a:solidFill>
                <a:latin typeface="Segoe UI"/>
              </a:rPr>
              <a:t>budget · matrix (last)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8C8C9B"/>
                </a:solidFill>
                <a:latin typeface="Segoe UI"/>
              </a:rPr>
              <a:t>budget · approval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99038" y="2304288"/>
            <a:ext cx="1178432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363152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3881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884610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145339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06068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666797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927526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188255" y="3236976"/>
            <a:ext cx="0" cy="493776"/>
          </a:xfrm>
          <a:prstGeom prst="line">
            <a:avLst/>
          </a:prstGeom>
          <a:ln w="15240">
            <a:solidFill>
              <a:srgbClr val="FFB02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773936" y="3730752"/>
            <a:ext cx="10003536" cy="475488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B020"/>
                </a:solidFill>
                <a:latin typeface="Segoe UI"/>
              </a:rPr>
              <a:t>⚠  CSR DECISION LAYER   </a:t>
            </a:r>
            <a:r>
              <a:rPr sz="760" b="0" i="0">
                <a:solidFill>
                  <a:srgbClr val="C2C2D0"/>
                </a:solidFill>
                <a:latin typeface="Segoe UI"/>
              </a:rPr>
              <a:t>— every agent pauses on exception and hands the decision to the CSR:   </a:t>
            </a:r>
            <a:r>
              <a:rPr sz="800" b="1" i="0">
                <a:solidFill>
                  <a:srgbClr val="35C759"/>
                </a:solidFill>
                <a:latin typeface="Segoe UI"/>
              </a:rPr>
              <a:t>Approve</a:t>
            </a:r>
            <a:r>
              <a:rPr sz="760" b="0" i="0">
                <a:solidFill>
                  <a:srgbClr val="C2C2D0"/>
                </a:solidFill>
                <a:latin typeface="Segoe UI"/>
              </a:rPr>
              <a:t>  ·  </a:t>
            </a:r>
            <a:r>
              <a:rPr sz="800" b="1" i="0">
                <a:solidFill>
                  <a:srgbClr val="FF5A5A"/>
                </a:solidFill>
                <a:latin typeface="Segoe UI"/>
              </a:rPr>
              <a:t>Reject</a:t>
            </a:r>
            <a:r>
              <a:rPr sz="760" b="0" i="0">
                <a:solidFill>
                  <a:srgbClr val="C2C2D0"/>
                </a:solidFill>
                <a:latin typeface="Segoe UI"/>
              </a:rPr>
              <a:t>  ·  </a:t>
            </a:r>
            <a:r>
              <a:rPr sz="800" b="1" i="0">
                <a:solidFill>
                  <a:srgbClr val="FFB020"/>
                </a:solidFill>
                <a:latin typeface="Segoe UI"/>
              </a:rPr>
              <a:t>Escalate</a:t>
            </a:r>
            <a:r>
              <a:rPr sz="760" b="0" i="0">
                <a:solidFill>
                  <a:srgbClr val="C2C2D0"/>
                </a:solidFill>
                <a:latin typeface="Segoe UI"/>
              </a:rPr>
              <a:t>   → the pipeline resumes        (all agents pass ⇒ straight-through, autonomous)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73936" y="3730752"/>
            <a:ext cx="10003536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664208" y="4352544"/>
            <a:ext cx="10222992" cy="365760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12700">
            <a:solidFill>
              <a:srgbClr val="FF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5A5A"/>
                </a:solidFill>
                <a:latin typeface="Segoe UI"/>
              </a:rPr>
              <a:t>🤖  EXCEPTION GOVERNANCE AGENT   </a:t>
            </a:r>
            <a:r>
              <a:rPr sz="760" b="0" i="0">
                <a:solidFill>
                  <a:srgbClr val="C2C2D0"/>
                </a:solidFill>
                <a:latin typeface="Segoe UI"/>
              </a:rPr>
              <a:t>routes every exception to its owner with severity + SLA (governance master · severity matrix · role routing)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64208" y="4352544"/>
            <a:ext cx="64008" cy="36576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82496" y="4791455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E600"/>
                </a:solidFill>
                <a:latin typeface="Segoe UI"/>
              </a:rPr>
              <a:t>ORDER CREATION &amp; DOWNSTREAM — the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🤖 Order Execution Agent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09928" y="5010912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13970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🤖 Order Execution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2C2D0"/>
                </a:solidFill>
                <a:latin typeface="Segoe UI"/>
              </a:rPr>
              <a:t>Agent · create sales order</a:t>
            </a:r>
          </a:p>
        </p:txBody>
      </p:sp>
      <p:sp>
        <p:nvSpPr>
          <p:cNvPr id="66" name="Chevron 65"/>
          <p:cNvSpPr/>
          <p:nvPr/>
        </p:nvSpPr>
        <p:spPr>
          <a:xfrm>
            <a:off x="3895344" y="5157216"/>
            <a:ext cx="274320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15968" y="5010912"/>
            <a:ext cx="1193291" cy="475488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889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ERP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sales order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82412" y="5010912"/>
            <a:ext cx="1193291" cy="475488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889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OMS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request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48855" y="5010912"/>
            <a:ext cx="1193291" cy="475488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889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WMS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pick ticket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15300" y="5010912"/>
            <a:ext cx="1193291" cy="475488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889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TMS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shipment+track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381743" y="5010912"/>
            <a:ext cx="1193291" cy="475488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889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SMTP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confirmation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48188" y="5010912"/>
            <a:ext cx="1193291" cy="475488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889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Audit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Segoe UI"/>
              </a:rPr>
              <a:t>&amp; documents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664208" y="5614416"/>
            <a:ext cx="10222992" cy="841248"/>
          </a:xfrm>
          <a:prstGeom prst="roundRect">
            <a:avLst>
              <a:gd name="adj" fmla="val 6000"/>
            </a:avLst>
          </a:prstGeom>
          <a:solidFill>
            <a:srgbClr val="0E0E16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73936" y="5669279"/>
            <a:ext cx="100035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GOVERNED MASTER DATA  </a:t>
            </a:r>
            <a:r>
              <a:rPr sz="750" b="0" i="1">
                <a:solidFill>
                  <a:srgbClr val="C2C2D0"/>
                </a:solidFill>
                <a:latin typeface="Segoe UI"/>
              </a:rPr>
              <a:t>— each agent owns its domain and reads governed data (change the data, not the code)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7739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Product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catalog·subs·UOM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883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Customer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&amp; Ship-to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027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Buyer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171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Pricing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4315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Credit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459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Inventory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603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Logistics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747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Budget &amp;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Approval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891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Compliance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&amp; SDS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0035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Execution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endpoints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917936" y="5934455"/>
            <a:ext cx="859536" cy="438912"/>
          </a:xfrm>
          <a:prstGeom prst="roundRect">
            <a:avLst>
              <a:gd name="adj" fmla="val 6000"/>
            </a:avLst>
          </a:prstGeom>
          <a:solidFill>
            <a:srgbClr val="222230"/>
          </a:solidFill>
          <a:ln w="762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Governance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C2C2D0"/>
                </a:solidFill>
                <a:latin typeface="Segoe UI"/>
              </a:rPr>
              <a:t>matrix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6629400" y="1664207"/>
            <a:ext cx="292608" cy="109728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own Arrow 86"/>
          <p:cNvSpPr/>
          <p:nvPr/>
        </p:nvSpPr>
        <p:spPr>
          <a:xfrm>
            <a:off x="6629400" y="4297680"/>
            <a:ext cx="292608" cy="109728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own Arrow 87"/>
          <p:cNvSpPr/>
          <p:nvPr/>
        </p:nvSpPr>
        <p:spPr>
          <a:xfrm>
            <a:off x="6629400" y="4700016"/>
            <a:ext cx="292608" cy="109728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1609344" y="4315968"/>
            <a:ext cx="0" cy="1298448"/>
          </a:xfrm>
          <a:prstGeom prst="line">
            <a:avLst/>
          </a:prstGeom>
          <a:ln w="13970">
            <a:solidFill>
              <a:srgbClr val="A97BF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20040" y="6547104"/>
            <a:ext cx="11521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Segoe UI"/>
              </a:rPr>
              <a:t>🤖 = specialist AI agent    ·    </a:t>
            </a:r>
            <a:r>
              <a:rPr sz="800" b="0" i="1">
                <a:solidFill>
                  <a:srgbClr val="35C759"/>
                </a:solidFill>
                <a:latin typeface="Segoe UI"/>
              </a:rPr>
              <a:t>green = straight-through (autonomous)    ·    </a:t>
            </a:r>
            <a:r>
              <a:rPr sz="800" b="0" i="1">
                <a:solidFill>
                  <a:srgbClr val="FFB020"/>
                </a:solidFill>
                <a:latin typeface="Segoe UI"/>
              </a:rPr>
              <a:t>amber = human-in-the-loop decision    ·    </a:t>
            </a:r>
            <a:r>
              <a:rPr sz="800" b="0" i="1">
                <a:solidFill>
                  <a:srgbClr val="A97BFF"/>
                </a:solidFill>
                <a:latin typeface="Segoe UI"/>
              </a:rPr>
              <a:t>dashed purple = master-data reads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