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46304" cy="78638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SOLUTION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Order Creation &amp; Orchestration —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828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1">
                <a:solidFill>
                  <a:srgbClr val="8A8A99"/>
                </a:solidFill>
                <a:latin typeface="Segoe UI"/>
              </a:rPr>
              <a:t>Upstream  →  Orchestration  →</a:t>
            </a:r>
          </a:p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1">
                <a:solidFill>
                  <a:srgbClr val="8A8A99"/>
                </a:solidFill>
                <a:latin typeface="Segoe UI"/>
              </a:rPr>
              <a:t>Order creation  →  Downstream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5156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UPSTREAM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64008" cy="960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2084831"/>
            <a:ext cx="1371600" cy="457200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EXPERIENCE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84831"/>
            <a:ext cx="64008" cy="457200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615184"/>
            <a:ext cx="1371600" cy="1874519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15184"/>
            <a:ext cx="64008" cy="187451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4562856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562856"/>
            <a:ext cx="64008" cy="9144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550408"/>
            <a:ext cx="1371600" cy="777240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550408"/>
            <a:ext cx="64008" cy="777240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74519" y="1097280"/>
            <a:ext cx="4206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4 PO INTAKE METHODS  ·  customer interaction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1362456"/>
            <a:ext cx="969264" cy="530352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✉  Email PO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35224" y="1362456"/>
            <a:ext cx="969264" cy="530352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📄  PDF 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95928" y="1362456"/>
            <a:ext cx="969264" cy="530352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📊  Excel 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56632" y="1362456"/>
            <a:ext cx="969264" cy="530352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🖶  Scanned PO</a:t>
            </a:r>
          </a:p>
        </p:txBody>
      </p:sp>
      <p:sp>
        <p:nvSpPr>
          <p:cNvPr id="23" name="Chevron 22"/>
          <p:cNvSpPr/>
          <p:nvPr/>
        </p:nvSpPr>
        <p:spPr>
          <a:xfrm>
            <a:off x="6099048" y="1508760"/>
            <a:ext cx="384048" cy="237744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56248" y="1325880"/>
            <a:ext cx="3246120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INGESTION &amp; EXTRACTION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0" i="0">
                <a:solidFill>
                  <a:srgbClr val="B8B8C6"/>
                </a:solidFill>
                <a:latin typeface="Segoe UI"/>
              </a:rPr>
              <a:t>OCR · parse · LLM extract · normalize · validate schema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2084831"/>
            <a:ext cx="8229600" cy="45720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EXPERIENCE LAYER  —  CSR Workspace &amp; Console</a:t>
            </a:r>
            <a:r>
              <a:rPr sz="880" b="0" i="1">
                <a:solidFill>
                  <a:srgbClr val="B8B8C6"/>
                </a:solidFill>
                <a:latin typeface="Segoe UI"/>
              </a:rPr>
              <a:t>     PO intake · live agent panels · one-click decisions · audit viewer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2615184"/>
            <a:ext cx="8229600" cy="1874519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38528" y="2670048"/>
            <a:ext cx="80101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ORCHESTRATION ENGINE  </a:t>
            </a:r>
            <a:r>
              <a:rPr sz="880" b="0" i="1">
                <a:solidFill>
                  <a:srgbClr val="B8B8C6"/>
                </a:solidFill>
                <a:latin typeface="Segoe UI"/>
              </a:rPr>
              <a:t>—  resumable pipeline / state machine  (pause on exception · resume on decision)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38528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9" name="Chevron 28"/>
          <p:cNvSpPr/>
          <p:nvPr/>
        </p:nvSpPr>
        <p:spPr>
          <a:xfrm>
            <a:off x="2832354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51226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31" name="Chevron 30"/>
          <p:cNvSpPr/>
          <p:nvPr/>
        </p:nvSpPr>
        <p:spPr>
          <a:xfrm>
            <a:off x="3845052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963924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33" name="Chevron 32"/>
          <p:cNvSpPr/>
          <p:nvPr/>
        </p:nvSpPr>
        <p:spPr>
          <a:xfrm>
            <a:off x="4857750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976622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35" name="Chevron 34"/>
          <p:cNvSpPr/>
          <p:nvPr/>
        </p:nvSpPr>
        <p:spPr>
          <a:xfrm>
            <a:off x="5870448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989320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37" name="Chevron 36"/>
          <p:cNvSpPr/>
          <p:nvPr/>
        </p:nvSpPr>
        <p:spPr>
          <a:xfrm>
            <a:off x="6883146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02018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9" name="Chevron 38"/>
          <p:cNvSpPr/>
          <p:nvPr/>
        </p:nvSpPr>
        <p:spPr>
          <a:xfrm>
            <a:off x="7895844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14716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41" name="Chevron 40"/>
          <p:cNvSpPr/>
          <p:nvPr/>
        </p:nvSpPr>
        <p:spPr>
          <a:xfrm>
            <a:off x="8908542" y="3172968"/>
            <a:ext cx="137160" cy="201168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027414" y="2999232"/>
            <a:ext cx="921258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38528" y="3785615"/>
            <a:ext cx="3913632" cy="621792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8528" y="3785615"/>
            <a:ext cx="73152" cy="62179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03120" y="3840479"/>
            <a:ext cx="36393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35C759"/>
                </a:solidFill>
                <a:latin typeface="Segoe UI"/>
              </a:rPr>
              <a:t>✓  AUTO-APPROVAL  ·  straight-through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03120" y="4078224"/>
            <a:ext cx="3639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Clean PO — every gate passes automatically. Zero human touch → order creation.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3785615"/>
            <a:ext cx="3913632" cy="621792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1397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3785615"/>
            <a:ext cx="73152" cy="62179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99632" y="3840479"/>
            <a:ext cx="36393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B020"/>
                </a:solidFill>
                <a:latin typeface="Segoe UI"/>
              </a:rPr>
              <a:t>⚠  CSR  ·  human-in-the-loop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9632" y="4078224"/>
            <a:ext cx="36393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Exception → CSR resolves / approves in workspace → pipeline resumes  (reject → routed).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895344" y="3566160"/>
            <a:ext cx="0" cy="219455"/>
          </a:xfrm>
          <a:prstGeom prst="line">
            <a:avLst/>
          </a:prstGeom>
          <a:ln w="15240">
            <a:solidFill>
              <a:srgbClr val="35C7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072384" y="3575303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35C759"/>
                </a:solidFill>
                <a:latin typeface="Segoe UI"/>
              </a:rPr>
              <a:t>clean → auto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991856" y="3566160"/>
            <a:ext cx="0" cy="219455"/>
          </a:xfrm>
          <a:prstGeom prst="line">
            <a:avLst/>
          </a:prstGeom>
          <a:ln w="1524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168896" y="3575303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exception → CSR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948672" y="4096511"/>
            <a:ext cx="164592" cy="0"/>
          </a:xfrm>
          <a:prstGeom prst="line">
            <a:avLst/>
          </a:prstGeom>
          <a:ln w="13970">
            <a:solidFill>
              <a:srgbClr val="FFB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113264" y="3282696"/>
            <a:ext cx="0" cy="813815"/>
          </a:xfrm>
          <a:prstGeom prst="line">
            <a:avLst/>
          </a:prstGeom>
          <a:ln w="13970">
            <a:solidFill>
              <a:srgbClr val="FFB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9948672" y="3282696"/>
            <a:ext cx="164592" cy="0"/>
          </a:xfrm>
          <a:prstGeom prst="line">
            <a:avLst/>
          </a:prstGeom>
          <a:ln w="13970">
            <a:solidFill>
              <a:srgbClr val="FFB02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851392" y="3767328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FFB020"/>
                </a:solidFill>
                <a:latin typeface="Segoe UI"/>
              </a:rPr>
              <a:t>resume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874519" y="4782312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80" b="1" i="0">
                <a:solidFill>
                  <a:srgbClr val="FFFFFF"/>
                </a:solidFill>
                <a:latin typeface="Segoe UI"/>
              </a:rPr>
              <a:t>ORDER EXECUTION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B8B8C6"/>
                </a:solidFill>
                <a:latin typeface="Segoe UI"/>
              </a:rPr>
              <a:t>create sales order</a:t>
            </a:r>
          </a:p>
        </p:txBody>
      </p:sp>
      <p:sp>
        <p:nvSpPr>
          <p:cNvPr id="60" name="Chevron 59"/>
          <p:cNvSpPr/>
          <p:nvPr/>
        </p:nvSpPr>
        <p:spPr>
          <a:xfrm>
            <a:off x="4224528" y="4946904"/>
            <a:ext cx="384048" cy="237744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709160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ERP / OMS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788152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WMS /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Fulfillment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67144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Carrier /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Shipping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946136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Invoicing /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Finance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25128" y="4782312"/>
            <a:ext cx="987551" cy="56692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Notify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Tracking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4581144"/>
            <a:ext cx="5349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DOWNSTREAM SYSTEMS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828800" y="5550408"/>
            <a:ext cx="8229600" cy="77724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938528" y="5605272"/>
            <a:ext cx="80101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MASTER-DATA FOUNDATION (governed)</a:t>
            </a:r>
            <a:r>
              <a:rPr sz="830" b="0" i="1">
                <a:solidFill>
                  <a:srgbClr val="B8B8C6"/>
                </a:solidFill>
                <a:latin typeface="Segoe UI"/>
              </a:rPr>
              <a:t>   —  the data process behind every decision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938528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46857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555187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63516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171846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980176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788505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596835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05164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Compliance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213494" y="5879592"/>
            <a:ext cx="735177" cy="329184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60" b="1" i="0">
                <a:solidFill>
                  <a:srgbClr val="B8B8C6"/>
                </a:solidFill>
                <a:latin typeface="Segoe UI"/>
              </a:rPr>
              <a:t>Governance</a:t>
            </a:r>
          </a:p>
        </p:txBody>
      </p:sp>
      <p:sp>
        <p:nvSpPr>
          <p:cNvPr id="79" name="Down Arrow 78"/>
          <p:cNvSpPr/>
          <p:nvPr/>
        </p:nvSpPr>
        <p:spPr>
          <a:xfrm>
            <a:off x="5806440" y="1993392"/>
            <a:ext cx="274320" cy="128016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own Arrow 79"/>
          <p:cNvSpPr/>
          <p:nvPr/>
        </p:nvSpPr>
        <p:spPr>
          <a:xfrm>
            <a:off x="5806440" y="2523744"/>
            <a:ext cx="274320" cy="128016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own Arrow 80"/>
          <p:cNvSpPr/>
          <p:nvPr/>
        </p:nvSpPr>
        <p:spPr>
          <a:xfrm>
            <a:off x="5806440" y="4471416"/>
            <a:ext cx="274320" cy="128016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773936" y="4489704"/>
            <a:ext cx="0" cy="1060704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84048" y="4928616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1">
                <a:solidFill>
                  <a:srgbClr val="A97BFF"/>
                </a:solidFill>
                <a:latin typeface="Segoe UI"/>
              </a:rPr>
              <a:t>data ↑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222992" y="1051560"/>
            <a:ext cx="1664208" cy="4425696"/>
          </a:xfrm>
          <a:prstGeom prst="roundRect">
            <a:avLst>
              <a:gd name="adj" fmla="val 6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22992" y="1051560"/>
            <a:ext cx="1664208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32719" y="1179576"/>
            <a:ext cx="1444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332719" y="1508760"/>
            <a:ext cx="1444752" cy="92354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32719" y="1508760"/>
            <a:ext cx="54864" cy="923544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10332719" y="2523744"/>
            <a:ext cx="1444752" cy="92354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332719" y="2523744"/>
            <a:ext cx="54864" cy="923544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10332719" y="3538728"/>
            <a:ext cx="1444752" cy="92354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332719" y="3538728"/>
            <a:ext cx="54864" cy="923544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332719" y="4553712"/>
            <a:ext cx="1444752" cy="92354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332719" y="4553712"/>
            <a:ext cx="54864" cy="92354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11480" y="6455664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1">
                <a:solidFill>
                  <a:srgbClr val="8A8A99"/>
                </a:solidFill>
                <a:latin typeface="Segoe UI"/>
              </a:rPr>
              <a:t>Flow: </a:t>
            </a:r>
            <a:r>
              <a:rPr sz="850" b="0" i="1">
                <a:solidFill>
                  <a:srgbClr val="FFE600"/>
                </a:solidFill>
                <a:latin typeface="Segoe UI"/>
              </a:rPr>
              <a:t>solid = order flow   ·   </a:t>
            </a:r>
            <a:r>
              <a:rPr sz="850" b="0" i="1">
                <a:solidFill>
                  <a:srgbClr val="FFB020"/>
                </a:solidFill>
                <a:latin typeface="Segoe UI"/>
              </a:rPr>
              <a:t>dashed amber = CSR resume loop   ·   </a:t>
            </a:r>
            <a:r>
              <a:rPr sz="850" b="0" i="1">
                <a:solidFill>
                  <a:srgbClr val="A97BFF"/>
                </a:solidFill>
                <a:latin typeface="Segoe UI"/>
              </a:rPr>
              <a:t>dashed purple = master-data reads   ·   </a:t>
            </a:r>
            <a:r>
              <a:rPr sz="850" b="0" i="1">
                <a:solidFill>
                  <a:srgbClr val="35C759"/>
                </a:solidFill>
                <a:latin typeface="Segoe UI"/>
              </a:rPr>
              <a:t>green = straight-through / auto-approval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