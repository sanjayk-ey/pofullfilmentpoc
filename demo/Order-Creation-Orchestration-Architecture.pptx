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MULTI-AGENT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292608"/>
            <a:ext cx="11521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Order Creation &amp; Orchestration — Architecture </a:t>
            </a:r>
            <a:r>
              <a:rPr sz="1800" b="1" i="0">
                <a:solidFill>
                  <a:srgbClr val="FFE600"/>
                </a:solidFill>
                <a:latin typeface="Segoe UI"/>
              </a:rPr>
              <a:t>with Human-in-the-Loop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" y="749808"/>
            <a:ext cx="1225296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INTAKE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RESOLUTION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" y="749808"/>
            <a:ext cx="54864" cy="93268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1752" y="1737360"/>
            <a:ext cx="1225296" cy="257860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ORCHESTRATION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HUMAN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DECISIONS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1737360"/>
            <a:ext cx="54864" cy="257860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01752" y="4443984"/>
            <a:ext cx="1225296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ORDER CREATION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DOWNSTREAM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" y="4443984"/>
            <a:ext cx="54864" cy="93268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01752" y="5486400"/>
            <a:ext cx="1225296" cy="96926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LEGACY DATA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SYSTEM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" y="5486400"/>
            <a:ext cx="54864" cy="969264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82496" y="768096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INTAKE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Intake Agent</a:t>
            </a:r>
            <a:r>
              <a:rPr sz="800" b="1" i="0">
                <a:solidFill>
                  <a:srgbClr val="FFE600"/>
                </a:solidFill>
                <a:latin typeface="Segoe UI"/>
              </a:rPr>
              <a:t> reads every PO and extracts the order fields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09928" y="1005840"/>
            <a:ext cx="2468880" cy="65836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09928" y="1005840"/>
            <a:ext cx="2468880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01368" y="1088136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A9EFF"/>
                </a:solidFill>
                <a:latin typeface="Segoe UI"/>
              </a:rPr>
              <a:t>PO INTAKE  —  any channel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01368" y="1289304"/>
            <a:ext cx="2286000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Received as Email PO,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Excel PO etc.</a:t>
            </a:r>
          </a:p>
        </p:txBody>
      </p:sp>
      <p:sp>
        <p:nvSpPr>
          <p:cNvPr id="19" name="Chevron 18"/>
          <p:cNvSpPr/>
          <p:nvPr/>
        </p:nvSpPr>
        <p:spPr>
          <a:xfrm>
            <a:off x="4224528" y="1261872"/>
            <a:ext cx="292608" cy="182880"/>
          </a:xfrm>
          <a:prstGeom prst="chevron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90288" y="1005840"/>
            <a:ext cx="7251192" cy="65836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143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1005840"/>
            <a:ext cx="7251192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0016" y="1088136"/>
            <a:ext cx="702259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4A9EFF"/>
                </a:solidFill>
                <a:latin typeface="Segoe UI"/>
              </a:rPr>
              <a:t>🤖  Intake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0016" y="1298448"/>
            <a:ext cx="702259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 i="0">
                <a:solidFill>
                  <a:srgbClr val="C2C2D0"/>
                </a:solidFill>
                <a:latin typeface="Segoe UI"/>
              </a:rPr>
              <a:t>extracts order fields (rule-based · confidence-scored): </a:t>
            </a:r>
            <a:r>
              <a:rPr sz="670" b="0" i="0">
                <a:solidFill>
                  <a:srgbClr val="FFFFFF"/>
                </a:solidFill>
                <a:latin typeface="Segoe UI"/>
              </a:rPr>
              <a:t>SKU · qty · UOM · ship-to ZIP · requested delivery date · PO number · customer / buyer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64208" y="1737360"/>
            <a:ext cx="10222992" cy="2578608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016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773936" y="1792224"/>
            <a:ext cx="10003536" cy="329184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E600"/>
                </a:solidFill>
                <a:latin typeface="Segoe UI"/>
              </a:rPr>
              <a:t>🤖  ORCHESTRATOR  </a:t>
            </a:r>
            <a:r>
              <a:rPr sz="730" b="0" i="0">
                <a:solidFill>
                  <a:srgbClr val="C2C2D0"/>
                </a:solidFill>
                <a:latin typeface="Segoe UI"/>
              </a:rPr>
              <a:t>coordinates a team of specialist AI agents over a shared context · resumable, pause-and-resume workflow · Approvals runs last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6647688" y="2139696"/>
            <a:ext cx="256032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773936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Validation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account · buyer auth · ship-to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unauthorized · cost ctr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73936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Chevron 28"/>
          <p:cNvSpPr/>
          <p:nvPr/>
        </p:nvSpPr>
        <p:spPr>
          <a:xfrm>
            <a:off x="2934081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034664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Matching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catalog · compliance &amp; SDS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obsolete · UOM · restrict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34664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Chevron 31"/>
          <p:cNvSpPr/>
          <p:nvPr/>
        </p:nvSpPr>
        <p:spPr>
          <a:xfrm>
            <a:off x="4194810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295394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Promo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contract · promo · margin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margin · discount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95394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Chevron 34"/>
          <p:cNvSpPr/>
          <p:nvPr/>
        </p:nvSpPr>
        <p:spPr>
          <a:xfrm>
            <a:off x="5455539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556123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Credit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limit · terms · risk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credit hold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56123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Chevron 37"/>
          <p:cNvSpPr/>
          <p:nvPr/>
        </p:nvSpPr>
        <p:spPr>
          <a:xfrm>
            <a:off x="6716268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816852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Inventory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DC stock · ATP · alloc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shortage · alloc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16852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Chevron 40"/>
          <p:cNvSpPr/>
          <p:nvPr/>
        </p:nvSpPr>
        <p:spPr>
          <a:xfrm>
            <a:off x="7976997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077581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Shipments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carrier · service · SLA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delivery · SLA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77581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Chevron 43"/>
          <p:cNvSpPr/>
          <p:nvPr/>
        </p:nvSpPr>
        <p:spPr>
          <a:xfrm>
            <a:off x="9237726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338309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Optimization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plan A/B/C · freight · split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least-cost plan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38309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Chevron 46"/>
          <p:cNvSpPr/>
          <p:nvPr/>
        </p:nvSpPr>
        <p:spPr>
          <a:xfrm>
            <a:off x="10498455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0599038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Approvals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budget · matrix (last)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budget · approval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599038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2363152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623881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4884610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6145339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406068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666797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9927526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1188255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1773936" y="3730752"/>
            <a:ext cx="10003536" cy="4754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651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B020"/>
                </a:solidFill>
                <a:latin typeface="Segoe UI"/>
              </a:rPr>
              <a:t>⚠  HUMAN DECISION LAYER   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— every agent pauses on exception for a human decision, then the pipeline resumes   (all agents pass ⇒ straight-through, autonomous)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773936" y="3730752"/>
            <a:ext cx="10003536" cy="5486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682496" y="4480560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ORDER CREATION &amp; DOWNSTREAM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Order Execution Agent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709928" y="4736592"/>
            <a:ext cx="2148840" cy="548640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397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🤖 Order Execution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2C2D0"/>
                </a:solidFill>
                <a:latin typeface="Segoe UI"/>
              </a:rPr>
              <a:t>Agent · create sales order</a:t>
            </a:r>
          </a:p>
        </p:txBody>
      </p:sp>
      <p:sp>
        <p:nvSpPr>
          <p:cNvPr id="62" name="Chevron 61"/>
          <p:cNvSpPr/>
          <p:nvPr/>
        </p:nvSpPr>
        <p:spPr>
          <a:xfrm>
            <a:off x="3895344" y="4919472"/>
            <a:ext cx="274320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315968" y="4736592"/>
            <a:ext cx="1193291" cy="548640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ERP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sales order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582412" y="4736592"/>
            <a:ext cx="1193291" cy="548640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OMS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request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848855" y="4736592"/>
            <a:ext cx="1193291" cy="548640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WMS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pick ticket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115300" y="4736592"/>
            <a:ext cx="1193291" cy="548640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TMS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shipment+track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381743" y="4736592"/>
            <a:ext cx="1193291" cy="548640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SMTP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confirmation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648188" y="4736592"/>
            <a:ext cx="1193291" cy="548640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Audit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&amp; documents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664208" y="5486400"/>
            <a:ext cx="10222992" cy="969264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1430">
            <a:solidFill>
              <a:srgbClr val="A9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773936" y="5559552"/>
            <a:ext cx="100035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GOVERNED MASTER DATA  </a:t>
            </a:r>
            <a:r>
              <a:rPr sz="750" b="0" i="1">
                <a:solidFill>
                  <a:srgbClr val="C2C2D0"/>
                </a:solidFill>
                <a:latin typeface="Segoe UI"/>
              </a:rPr>
              <a:t>— each agent owns its domain and reads governed data (change the data, not the code)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773936" y="5870448"/>
            <a:ext cx="950975" cy="51206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Product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catalog·subs·UOM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779776" y="5870448"/>
            <a:ext cx="950975" cy="51206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Customer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&amp; Ship-to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85615" y="5870448"/>
            <a:ext cx="950975" cy="51206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Buyer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791456" y="5870448"/>
            <a:ext cx="950975" cy="51206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Pricing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797296" y="5870448"/>
            <a:ext cx="950975" cy="51206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Credit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803136" y="5870448"/>
            <a:ext cx="950975" cy="51206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Inventory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7808975" y="5870448"/>
            <a:ext cx="950975" cy="51206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Logistics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814815" y="5870448"/>
            <a:ext cx="950975" cy="51206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Budget &amp;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Approval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820655" y="5870448"/>
            <a:ext cx="950975" cy="51206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Compliance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&amp; SDS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0826495" y="5870448"/>
            <a:ext cx="950975" cy="51206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Execution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endpoints</a:t>
            </a:r>
          </a:p>
        </p:txBody>
      </p:sp>
      <p:sp>
        <p:nvSpPr>
          <p:cNvPr id="81" name="Down Arrow 80"/>
          <p:cNvSpPr/>
          <p:nvPr/>
        </p:nvSpPr>
        <p:spPr>
          <a:xfrm>
            <a:off x="6629400" y="1664207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Down Arrow 81"/>
          <p:cNvSpPr/>
          <p:nvPr/>
        </p:nvSpPr>
        <p:spPr>
          <a:xfrm>
            <a:off x="6629400" y="429768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 flipV="1">
            <a:off x="1609344" y="4315968"/>
            <a:ext cx="0" cy="1170432"/>
          </a:xfrm>
          <a:prstGeom prst="line">
            <a:avLst/>
          </a:prstGeom>
          <a:ln w="13970">
            <a:solidFill>
              <a:srgbClr val="A97BF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320040" y="6547104"/>
            <a:ext cx="11521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FFFFFF"/>
                </a:solidFill>
                <a:latin typeface="Segoe UI"/>
              </a:rPr>
              <a:t>🤖 = specialist AI agent    ·    </a:t>
            </a:r>
            <a:r>
              <a:rPr sz="800" b="0" i="1">
                <a:solidFill>
                  <a:srgbClr val="35C759"/>
                </a:solidFill>
                <a:latin typeface="Segoe UI"/>
              </a:rPr>
              <a:t>green = straight-through (autonomous)    ·    </a:t>
            </a:r>
            <a:r>
              <a:rPr sz="800" b="0" i="1">
                <a:solidFill>
                  <a:srgbClr val="FFB020"/>
                </a:solidFill>
                <a:latin typeface="Segoe UI"/>
              </a:rPr>
              <a:t>amber = human-in-the-loop decision    ·    </a:t>
            </a:r>
            <a:r>
              <a:rPr sz="800" b="0" i="1">
                <a:solidFill>
                  <a:srgbClr val="A97BFF"/>
                </a:solidFill>
                <a:latin typeface="Segoe UI"/>
              </a:rPr>
              <a:t>dashed purple = master-data reads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