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444752"/>
            <a:ext cx="1170432" cy="38039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HUMAN DECISIONS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LEGACY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444752"/>
            <a:ext cx="54864" cy="38039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5431536"/>
            <a:ext cx="1170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5431536"/>
            <a:ext cx="54864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444752"/>
            <a:ext cx="10314432" cy="3803904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57276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AGENT ORCHESTRATION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multi AI agents works together to process order end-to-end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00784" y="1901952"/>
            <a:ext cx="10058400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00784" y="1901952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00784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PO document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00784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2735072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26512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35C759"/>
                </a:solidFill>
                <a:latin typeface="Segoe UI"/>
              </a:rPr>
              <a:t>Commerce</a:t>
            </a:r>
            <a:r>
              <a:rPr sz="580" b="0" i="0">
                <a:solidFill>
                  <a:srgbClr val="8C8C9B"/>
                </a:solidFill>
                <a:latin typeface="Segoe UI"/>
              </a:rPr>
              <a:t> · </a:t>
            </a:r>
            <a:r>
              <a:rPr sz="620" b="1" i="0">
                <a:solidFill>
                  <a:srgbClr val="FF8A3D"/>
                </a:solidFill>
                <a:latin typeface="Segoe UI"/>
              </a:rPr>
              <a:t>OMS</a:t>
            </a:r>
            <a:r>
              <a:rPr sz="580" b="0" i="0">
                <a:solidFill>
                  <a:srgbClr val="8C8C9B"/>
                </a:solidFill>
                <a:latin typeface="Segoe UI"/>
              </a:rPr>
              <a:t> · </a:t>
            </a:r>
            <a:r>
              <a:rPr sz="620" b="1" i="0">
                <a:solidFill>
                  <a:srgbClr val="A97BFF"/>
                </a:solidFill>
                <a:latin typeface="Segoe UI"/>
              </a:rPr>
              <a:t>PIM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26512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3860800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952239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A97BFF"/>
                </a:solidFill>
                <a:latin typeface="Segoe UI"/>
              </a:rPr>
              <a:t>PIM</a:t>
            </a:r>
            <a:r>
              <a:rPr sz="580" b="0" i="0">
                <a:solidFill>
                  <a:srgbClr val="8C8C9B"/>
                </a:solidFill>
                <a:latin typeface="Segoe UI"/>
              </a:rPr>
              <a:t> · </a:t>
            </a:r>
            <a:r>
              <a:rPr sz="620" b="1" i="0">
                <a:solidFill>
                  <a:srgbClr val="4A9EFF"/>
                </a:solidFill>
                <a:latin typeface="Segoe UI"/>
              </a:rPr>
              <a:t>ERP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239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>
            <a:off x="4986528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77967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35C759"/>
                </a:solidFill>
                <a:latin typeface="Segoe UI"/>
              </a:rPr>
              <a:t>Commerce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7967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6112256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03696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4A9EFF"/>
                </a:solidFill>
                <a:latin typeface="Segoe UI"/>
              </a:rPr>
              <a:t>ERP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3696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7237984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329423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4A9EFF"/>
                </a:solidFill>
                <a:latin typeface="Segoe UI"/>
              </a:rPr>
              <a:t>ERP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29423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8363712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55152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33C9C9"/>
                </a:solidFill>
                <a:latin typeface="Segoe UI"/>
              </a:rPr>
              <a:t>Shipping Provider</a:t>
            </a:r>
            <a:r>
              <a:rPr sz="580" b="0" i="0">
                <a:solidFill>
                  <a:srgbClr val="8C8C9B"/>
                </a:solidFill>
                <a:latin typeface="Segoe UI"/>
              </a:rPr>
              <a:t> · </a:t>
            </a:r>
            <a:r>
              <a:rPr sz="620" b="1" i="0">
                <a:solidFill>
                  <a:srgbClr val="4A9EFF"/>
                </a:solidFill>
                <a:latin typeface="Segoe UI"/>
              </a:rPr>
              <a:t>ERP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5152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Chevron 37"/>
          <p:cNvSpPr/>
          <p:nvPr/>
        </p:nvSpPr>
        <p:spPr>
          <a:xfrm>
            <a:off x="9489440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80879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33C9C9"/>
                </a:solidFill>
                <a:latin typeface="Segoe UI"/>
              </a:rPr>
              <a:t>Shipping Provider</a:t>
            </a:r>
            <a:r>
              <a:rPr sz="580" b="0" i="0">
                <a:solidFill>
                  <a:srgbClr val="8C8C9B"/>
                </a:solidFill>
                <a:latin typeface="Segoe UI"/>
              </a:rPr>
              <a:t> · </a:t>
            </a:r>
            <a:r>
              <a:rPr sz="620" b="1" i="0">
                <a:solidFill>
                  <a:srgbClr val="4A9EFF"/>
                </a:solidFill>
                <a:latin typeface="Segoe UI"/>
              </a:rPr>
              <a:t>ERP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80879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10615168" y="2926079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06607" y="2487168"/>
            <a:ext cx="1052575" cy="1042415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0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4A9EFF"/>
                </a:solidFill>
                <a:latin typeface="Segoe UI"/>
              </a:rPr>
              <a:t>ERP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06607" y="2487168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2227071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352800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78528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604256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729984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7855711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981439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107167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232895" y="2377440"/>
            <a:ext cx="0" cy="109728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700784" y="3913632"/>
            <a:ext cx="10058400" cy="118872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700784" y="3913632"/>
            <a:ext cx="10058400" cy="5486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2224" y="4005072"/>
            <a:ext cx="9875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3C9C9"/>
                </a:solidFill>
                <a:latin typeface="Segoe UI"/>
              </a:rPr>
              <a:t>LEGACY DATA SOURCE SYSTEMS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792224" y="4261104"/>
            <a:ext cx="1872691" cy="76809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778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7BFF"/>
                </a:solidFill>
                <a:latin typeface="Segoe UI"/>
              </a:rPr>
              <a:t>PIM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Product catalog,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attributes, UOM,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compliance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92224" y="4261104"/>
            <a:ext cx="1872691" cy="54864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792931" y="4261104"/>
            <a:ext cx="1872691" cy="76809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778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A9EFF"/>
                </a:solidFill>
                <a:latin typeface="Segoe UI"/>
              </a:rPr>
              <a:t>ERP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Inventory,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credit, budget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&amp; approvals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92931" y="4261104"/>
            <a:ext cx="1872691" cy="5486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793638" y="4261104"/>
            <a:ext cx="1872691" cy="76809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778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5C759"/>
                </a:solidFill>
                <a:latin typeface="Segoe UI"/>
              </a:rPr>
              <a:t>Commerce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Pricing &amp; promos,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customer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buyer master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793638" y="4261104"/>
            <a:ext cx="1872691" cy="5486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94345" y="4261104"/>
            <a:ext cx="1872691" cy="76809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778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8A3D"/>
                </a:solidFill>
                <a:latin typeface="Segoe UI"/>
              </a:rPr>
              <a:t>OMS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Order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buying history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94345" y="4261104"/>
            <a:ext cx="1872691" cy="54864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795052" y="4261104"/>
            <a:ext cx="1872691" cy="76809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778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3C9C9"/>
                </a:solidFill>
                <a:latin typeface="Segoe UI"/>
              </a:rPr>
              <a:t>Shipping Provider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Carrier coverage,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freight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delivery SLA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95052" y="4261104"/>
            <a:ext cx="1872691" cy="5486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352800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78528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604256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729984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855711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981439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107167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232895" y="3529583"/>
            <a:ext cx="0" cy="384049"/>
          </a:xfrm>
          <a:prstGeom prst="line">
            <a:avLst/>
          </a:prstGeom>
          <a:ln w="11430">
            <a:solidFill>
              <a:srgbClr val="33C9C9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591056" y="546811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18488" y="574243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76" name="Chevron 75"/>
          <p:cNvSpPr/>
          <p:nvPr/>
        </p:nvSpPr>
        <p:spPr>
          <a:xfrm>
            <a:off x="3803904" y="594360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224528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766206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307884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849563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391241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Email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6583679" y="5230368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