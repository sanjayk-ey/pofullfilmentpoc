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4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09728"/>
            <a:ext cx="9144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FFE600"/>
                </a:solidFill>
                <a:latin typeface="Segoe UI"/>
              </a:rPr>
              <a:t>MULTI-AGENT SOLUTION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292608"/>
            <a:ext cx="11521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FFFFFF"/>
                </a:solidFill>
                <a:latin typeface="Segoe UI"/>
              </a:rPr>
              <a:t>Order Creation &amp; Orchestration — Architecture </a:t>
            </a:r>
            <a:r>
              <a:rPr sz="1800" b="1" i="0">
                <a:solidFill>
                  <a:srgbClr val="FFE600"/>
                </a:solidFill>
                <a:latin typeface="Segoe UI"/>
              </a:rPr>
              <a:t>with Human-in-the-Loop Governance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" y="749808"/>
            <a:ext cx="1225296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INTAKE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RESOLUTION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01752" y="749808"/>
            <a:ext cx="54864" cy="932688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01752" y="1737360"/>
            <a:ext cx="1225296" cy="38404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DECISION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" y="1737360"/>
            <a:ext cx="54864" cy="384048"/>
          </a:xfrm>
          <a:prstGeom prst="rect">
            <a:avLst/>
          </a:prstGeom>
          <a:solidFill>
            <a:srgbClr val="33C9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01752" y="2176272"/>
            <a:ext cx="1225296" cy="212140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ORCHESTRATION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AGENT TEAM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" y="2176272"/>
            <a:ext cx="54864" cy="2121408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01752" y="4352544"/>
            <a:ext cx="1225296" cy="36576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GOVERNANCE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" y="4352544"/>
            <a:ext cx="54864" cy="36576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01752" y="4773168"/>
            <a:ext cx="1225296" cy="78638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ORDER CREATION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&amp; DOWNSTREAM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01752" y="4773168"/>
            <a:ext cx="54864" cy="786384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01752" y="5614416"/>
            <a:ext cx="1225296" cy="84124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DATA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FFFF"/>
                </a:solidFill>
                <a:latin typeface="Segoe UI"/>
              </a:rPr>
              <a:t>FOUNDATION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1752" y="5614416"/>
            <a:ext cx="54864" cy="841248"/>
          </a:xfrm>
          <a:prstGeom prst="rect">
            <a:avLst/>
          </a:prstGeom>
          <a:solidFill>
            <a:srgbClr val="A9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82496" y="768096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INTAKE —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Intake Agent</a:t>
            </a:r>
            <a:r>
              <a:rPr sz="800" b="1" i="0">
                <a:solidFill>
                  <a:srgbClr val="FFE600"/>
                </a:solidFill>
                <a:latin typeface="Segoe UI"/>
              </a:rPr>
              <a:t> reads every PO and extracts the order fields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709928" y="1005840"/>
            <a:ext cx="2468880" cy="65836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709928" y="1005840"/>
            <a:ext cx="2468880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01368" y="1088136"/>
            <a:ext cx="2286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4A9EFF"/>
                </a:solidFill>
                <a:latin typeface="Segoe UI"/>
              </a:rPr>
              <a:t>PO INTAKE  —  4 methods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01368" y="1289304"/>
            <a:ext cx="2286000" cy="3383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• Email PO      • PDF PO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• Excel PO (.xlsx/.xls)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C2C2D0"/>
                </a:solidFill>
                <a:latin typeface="Segoe UI"/>
              </a:rPr>
              <a:t>• Scanned PO</a:t>
            </a:r>
          </a:p>
        </p:txBody>
      </p:sp>
      <p:sp>
        <p:nvSpPr>
          <p:cNvPr id="23" name="Chevron 22"/>
          <p:cNvSpPr/>
          <p:nvPr/>
        </p:nvSpPr>
        <p:spPr>
          <a:xfrm>
            <a:off x="4224528" y="1261872"/>
            <a:ext cx="292608" cy="182880"/>
          </a:xfrm>
          <a:prstGeom prst="chevron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90288" y="1005840"/>
            <a:ext cx="5422392" cy="65836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1430">
            <a:solidFill>
              <a:srgbClr val="4A9E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90288" y="1005840"/>
            <a:ext cx="5422392" cy="45720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00016" y="1088136"/>
            <a:ext cx="519379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4A9EFF"/>
                </a:solidFill>
                <a:latin typeface="Segoe UI"/>
              </a:rPr>
              <a:t>🤖  Intake Agent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0016" y="1298448"/>
            <a:ext cx="519379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0"/>
              </a:spcAft>
            </a:pPr>
            <a:r>
              <a:rPr sz="670" b="0" i="0">
                <a:solidFill>
                  <a:srgbClr val="C2C2D0"/>
                </a:solidFill>
                <a:latin typeface="Segoe UI"/>
              </a:rPr>
              <a:t>extracts order fields (rule-based · confidence-scored): </a:t>
            </a:r>
            <a:r>
              <a:rPr sz="670" b="0" i="0">
                <a:solidFill>
                  <a:srgbClr val="FFFFFF"/>
                </a:solidFill>
                <a:latin typeface="Segoe UI"/>
              </a:rPr>
              <a:t>SKU · qty · UOM · ship-to ZIP · requested delivery date · PO number · customer / buyer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664208" y="1737360"/>
            <a:ext cx="8394192" cy="38404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2700">
            <a:solidFill>
              <a:srgbClr val="33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Segoe UI"/>
              </a:rPr>
              <a:t>DECISION LAYER  </a:t>
            </a:r>
            <a:r>
              <a:rPr sz="800" b="0" i="0">
                <a:solidFill>
                  <a:srgbClr val="C2C2D0"/>
                </a:solidFill>
                <a:latin typeface="Segoe UI"/>
              </a:rPr>
              <a:t>· Approve · Reject · Escalate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664208" y="2176272"/>
            <a:ext cx="8394192" cy="2121408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016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773936" y="2231136"/>
            <a:ext cx="8174736" cy="365760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270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19" b="1" i="0">
                <a:solidFill>
                  <a:srgbClr val="FFE600"/>
                </a:solidFill>
                <a:latin typeface="Segoe UI"/>
              </a:rPr>
              <a:t>🤖  ORCHESTRATOR  </a:t>
            </a:r>
            <a:r>
              <a:rPr sz="740" b="0" i="0">
                <a:solidFill>
                  <a:srgbClr val="C2C2D0"/>
                </a:solidFill>
                <a:latin typeface="Segoe UI"/>
              </a:rPr>
              <a:t>coordinates a team of specialist AI agents over a shared context · resumable pipeline / state machine · pauses on exception, resumes on CSR decision · Approvals runs last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5733288" y="2606039"/>
            <a:ext cx="256032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773936" y="2798064"/>
            <a:ext cx="9498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Customer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Validation 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account · buyer auth · ship-to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unauthorized · cost ctr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773936" y="2798064"/>
            <a:ext cx="9498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Chevron 33"/>
          <p:cNvSpPr/>
          <p:nvPr/>
        </p:nvSpPr>
        <p:spPr>
          <a:xfrm>
            <a:off x="2705481" y="3182112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2806064" y="2798064"/>
            <a:ext cx="9498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Product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Matching 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catalog · compliance &amp; SDS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obsolete · UOM · restrict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6064" y="2798064"/>
            <a:ext cx="9498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Chevron 36"/>
          <p:cNvSpPr/>
          <p:nvPr/>
        </p:nvSpPr>
        <p:spPr>
          <a:xfrm>
            <a:off x="3737610" y="3182112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838194" y="2798064"/>
            <a:ext cx="9498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Pricing &amp;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Promo 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contract · promo · margin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margin · discount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38194" y="2798064"/>
            <a:ext cx="9498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Chevron 39"/>
          <p:cNvSpPr/>
          <p:nvPr/>
        </p:nvSpPr>
        <p:spPr>
          <a:xfrm>
            <a:off x="4769739" y="3182112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870323" y="2798064"/>
            <a:ext cx="9498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Credit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limit · terms · risk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credit hold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870323" y="2798064"/>
            <a:ext cx="9498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Chevron 42"/>
          <p:cNvSpPr/>
          <p:nvPr/>
        </p:nvSpPr>
        <p:spPr>
          <a:xfrm>
            <a:off x="5801868" y="3182112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902452" y="2798064"/>
            <a:ext cx="9498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Inventory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DC stock · ATP · alloc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shortage · alloc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902452" y="2798064"/>
            <a:ext cx="9498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Chevron 45"/>
          <p:cNvSpPr/>
          <p:nvPr/>
        </p:nvSpPr>
        <p:spPr>
          <a:xfrm>
            <a:off x="6833997" y="3182112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934581" y="2798064"/>
            <a:ext cx="9498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Shipments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carrier · service · SLA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delivery · SLA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34581" y="2798064"/>
            <a:ext cx="9498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Chevron 48"/>
          <p:cNvSpPr/>
          <p:nvPr/>
        </p:nvSpPr>
        <p:spPr>
          <a:xfrm>
            <a:off x="7866126" y="3182112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7966709" y="2798064"/>
            <a:ext cx="9498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Optimization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plan A/B/C · freight · split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least-cost plan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966709" y="2798064"/>
            <a:ext cx="9498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Chevron 51"/>
          <p:cNvSpPr/>
          <p:nvPr/>
        </p:nvSpPr>
        <p:spPr>
          <a:xfrm>
            <a:off x="8898255" y="3182112"/>
            <a:ext cx="128016" cy="164592"/>
          </a:xfrm>
          <a:prstGeom prst="chevron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8998838" y="2798064"/>
            <a:ext cx="949832" cy="932688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0160">
            <a:solidFill>
              <a:srgbClr val="FFE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🤖 </a:t>
            </a:r>
            <a:r>
              <a:rPr sz="720" b="1" i="0">
                <a:solidFill>
                  <a:srgbClr val="FFFFFF"/>
                </a:solidFill>
                <a:latin typeface="Segoe UI"/>
              </a:rPr>
              <a:t>Approvals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FFFFFF"/>
                </a:solidFill>
                <a:latin typeface="Segoe UI"/>
              </a:rPr>
              <a:t>Agent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C2C2D0"/>
                </a:solidFill>
                <a:latin typeface="Segoe UI"/>
              </a:rPr>
              <a:t>budget · matrix (last)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1">
                <a:solidFill>
                  <a:srgbClr val="8C8C9B"/>
                </a:solidFill>
                <a:latin typeface="Segoe UI"/>
              </a:rPr>
              <a:t>budget · approval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998838" y="2798064"/>
            <a:ext cx="949832" cy="3657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1773936" y="3822191"/>
            <a:ext cx="4014215" cy="42062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270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773936" y="3822191"/>
            <a:ext cx="64008" cy="420624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920240" y="3867911"/>
            <a:ext cx="37398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35C759"/>
                </a:solidFill>
                <a:latin typeface="Segoe UI"/>
              </a:rPr>
              <a:t>✓ Straight-through</a:t>
            </a:r>
            <a:r>
              <a:rPr sz="740" b="0" i="0">
                <a:solidFill>
                  <a:srgbClr val="C2C2D0"/>
                </a:solidFill>
                <a:latin typeface="Segoe UI"/>
              </a:rPr>
              <a:t>  — all agents pass → autonomous → order creation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34456" y="3822191"/>
            <a:ext cx="4014215" cy="42062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2700">
            <a:solidFill>
              <a:srgbClr val="FFB0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934456" y="3822191"/>
            <a:ext cx="64008" cy="420624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080760" y="3867911"/>
            <a:ext cx="37398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830" b="1" i="0">
                <a:solidFill>
                  <a:srgbClr val="FFB020"/>
                </a:solidFill>
                <a:latin typeface="Segoe UI"/>
              </a:rPr>
              <a:t>⚠ Human-in-the-loop</a:t>
            </a:r>
            <a:r>
              <a:rPr sz="740" b="0" i="0">
                <a:solidFill>
                  <a:srgbClr val="C2C2D0"/>
                </a:solidFill>
                <a:latin typeface="Segoe UI"/>
              </a:rPr>
              <a:t>  — an agent raises an exception → CSR decides → resumes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664208" y="4352544"/>
            <a:ext cx="8394192" cy="365760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12700">
            <a:solidFill>
              <a:srgbClr val="FF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5A5A"/>
                </a:solidFill>
                <a:latin typeface="Segoe UI"/>
              </a:rPr>
              <a:t>🤖  EXCEPTION GOVERNANCE AGENT   </a:t>
            </a:r>
            <a:r>
              <a:rPr sz="760" b="0" i="0">
                <a:solidFill>
                  <a:srgbClr val="C2C2D0"/>
                </a:solidFill>
                <a:latin typeface="Segoe UI"/>
              </a:rPr>
              <a:t>routes every exception to its owner with severity + SLA (governance master · severity matrix · role routing)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664208" y="4352544"/>
            <a:ext cx="64008" cy="365760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682496" y="4791455"/>
            <a:ext cx="82296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E600"/>
                </a:solidFill>
                <a:latin typeface="Segoe UI"/>
              </a:rPr>
              <a:t>ORDER CREATION &amp; DOWNSTREAM — the </a:t>
            </a:r>
            <a:r>
              <a:rPr sz="800" b="1" i="0">
                <a:solidFill>
                  <a:srgbClr val="FFFFFF"/>
                </a:solidFill>
                <a:latin typeface="Segoe UI"/>
              </a:rPr>
              <a:t>🤖 Order Execution Agent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709928" y="5010912"/>
            <a:ext cx="2148840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13970">
            <a:solidFill>
              <a:srgbClr val="35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Segoe UI"/>
              </a:rPr>
              <a:t>🤖 Order Execution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C2C2D0"/>
                </a:solidFill>
                <a:latin typeface="Segoe UI"/>
              </a:rPr>
              <a:t>Agent · create sales order</a:t>
            </a:r>
          </a:p>
        </p:txBody>
      </p:sp>
      <p:sp>
        <p:nvSpPr>
          <p:cNvPr id="65" name="Chevron 64"/>
          <p:cNvSpPr/>
          <p:nvPr/>
        </p:nvSpPr>
        <p:spPr>
          <a:xfrm>
            <a:off x="3895344" y="5157216"/>
            <a:ext cx="274320" cy="182880"/>
          </a:xfrm>
          <a:prstGeom prst="chevron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4315968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ERP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sales order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5277612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OMS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request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239255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WMS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pick ticket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7200899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TMS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shipment+track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162543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SMTP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confirmation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124187" y="5010912"/>
            <a:ext cx="888491" cy="475488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889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Audit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70" b="1" i="0">
                <a:solidFill>
                  <a:srgbClr val="FFFFFF"/>
                </a:solidFill>
                <a:latin typeface="Segoe UI"/>
              </a:rPr>
              <a:t>&amp; documents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664208" y="5614416"/>
            <a:ext cx="8394192" cy="841248"/>
          </a:xfrm>
          <a:prstGeom prst="roundRect">
            <a:avLst>
              <a:gd name="adj" fmla="val 6000"/>
            </a:avLst>
          </a:prstGeom>
          <a:solidFill>
            <a:srgbClr val="0E0E16"/>
          </a:solidFill>
          <a:ln w="11430">
            <a:solidFill>
              <a:srgbClr val="A97B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773936" y="5669279"/>
            <a:ext cx="817473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GOVERNED MASTER DATA  </a:t>
            </a:r>
            <a:r>
              <a:rPr sz="750" b="0" i="1">
                <a:solidFill>
                  <a:srgbClr val="C2C2D0"/>
                </a:solidFill>
                <a:latin typeface="Segoe UI"/>
              </a:rPr>
              <a:t>— each agent owns its domain and reads governed data (change the data, not the code)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773936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Product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catalog·subs·UOM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522081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Customer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&amp; Ship-to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270226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Buyer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018372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Pricing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766517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Credit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514663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Inventory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262808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Logistics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7010954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Budget &amp;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Approval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7759099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Compliance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&amp; SDS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507245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Execution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endpoints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255390" y="5934455"/>
            <a:ext cx="693281" cy="438912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Governance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C2C2D0"/>
                </a:solidFill>
                <a:latin typeface="Segoe UI"/>
              </a:rPr>
              <a:t>matrix</a:t>
            </a:r>
          </a:p>
        </p:txBody>
      </p:sp>
      <p:sp>
        <p:nvSpPr>
          <p:cNvPr id="85" name="Down Arrow 84"/>
          <p:cNvSpPr/>
          <p:nvPr/>
        </p:nvSpPr>
        <p:spPr>
          <a:xfrm>
            <a:off x="5715000" y="1664207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Down Arrow 85"/>
          <p:cNvSpPr/>
          <p:nvPr/>
        </p:nvSpPr>
        <p:spPr>
          <a:xfrm>
            <a:off x="5715000" y="2103120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Down Arrow 86"/>
          <p:cNvSpPr/>
          <p:nvPr/>
        </p:nvSpPr>
        <p:spPr>
          <a:xfrm>
            <a:off x="5715000" y="4279392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Down Arrow 87"/>
          <p:cNvSpPr/>
          <p:nvPr/>
        </p:nvSpPr>
        <p:spPr>
          <a:xfrm>
            <a:off x="5715000" y="4700016"/>
            <a:ext cx="292608" cy="109728"/>
          </a:xfrm>
          <a:prstGeom prst="downArrow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9" name="Connector 88"/>
          <p:cNvCxnSpPr/>
          <p:nvPr/>
        </p:nvCxnSpPr>
        <p:spPr>
          <a:xfrm flipV="1">
            <a:off x="1609344" y="4297679"/>
            <a:ext cx="0" cy="1316737"/>
          </a:xfrm>
          <a:prstGeom prst="line">
            <a:avLst/>
          </a:prstGeom>
          <a:ln w="13970">
            <a:solidFill>
              <a:srgbClr val="A97BFF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ounded Rectangle 89"/>
          <p:cNvSpPr/>
          <p:nvPr/>
        </p:nvSpPr>
        <p:spPr>
          <a:xfrm>
            <a:off x="10168128" y="749808"/>
            <a:ext cx="1737360" cy="4809744"/>
          </a:xfrm>
          <a:prstGeom prst="roundRect">
            <a:avLst>
              <a:gd name="adj" fmla="val 6000"/>
            </a:avLst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168128" y="749808"/>
            <a:ext cx="1737360" cy="82296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0277855" y="859536"/>
            <a:ext cx="151790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FFE600"/>
                </a:solidFill>
                <a:latin typeface="Segoe UI"/>
              </a:rPr>
              <a:t>CROSS-CUTTING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10277855" y="1133856"/>
            <a:ext cx="1517904" cy="80832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Multi-agent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orchestration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277855" y="1133856"/>
            <a:ext cx="45720" cy="808329"/>
          </a:xfrm>
          <a:prstGeom prst="rect">
            <a:avLst/>
          </a:prstGeom>
          <a:solidFill>
            <a:srgbClr val="FFE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10277855" y="2033625"/>
            <a:ext cx="1517904" cy="80832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Human-in-the-loop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control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277855" y="2033625"/>
            <a:ext cx="45720" cy="808329"/>
          </a:xfrm>
          <a:prstGeom prst="rect">
            <a:avLst/>
          </a:prstGeom>
          <a:solidFill>
            <a:srgbClr val="FFB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Rounded Rectangle 96"/>
          <p:cNvSpPr/>
          <p:nvPr/>
        </p:nvSpPr>
        <p:spPr>
          <a:xfrm>
            <a:off x="10277855" y="2933395"/>
            <a:ext cx="1517904" cy="80832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Exception governance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&amp; SLA routing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277855" y="2933395"/>
            <a:ext cx="45720" cy="808329"/>
          </a:xfrm>
          <a:prstGeom prst="rect">
            <a:avLst/>
          </a:prstGeom>
          <a:solidFill>
            <a:srgbClr val="FF5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10277855" y="3833164"/>
            <a:ext cx="1517904" cy="80832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Audit &amp;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traceability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277855" y="3833164"/>
            <a:ext cx="45720" cy="808329"/>
          </a:xfrm>
          <a:prstGeom prst="rect">
            <a:avLst/>
          </a:prstGeom>
          <a:solidFill>
            <a:srgbClr val="4A9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10277855" y="4732934"/>
            <a:ext cx="1517904" cy="808329"/>
          </a:xfrm>
          <a:prstGeom prst="roundRect">
            <a:avLst>
              <a:gd name="adj" fmla="val 6000"/>
            </a:avLst>
          </a:prstGeom>
          <a:solidFill>
            <a:srgbClr val="2E2E40"/>
          </a:solidFill>
          <a:ln w="7620">
            <a:solidFill>
              <a:srgbClr val="3C3C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9144" bIns="9144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Resumable</a:t>
            </a:r>
          </a:p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state machine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0277855" y="4732934"/>
            <a:ext cx="45720" cy="808329"/>
          </a:xfrm>
          <a:prstGeom prst="rect">
            <a:avLst/>
          </a:prstGeom>
          <a:solidFill>
            <a:srgbClr val="35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20040" y="6547104"/>
            <a:ext cx="115214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FFFFFF"/>
                </a:solidFill>
                <a:latin typeface="Segoe UI"/>
              </a:rPr>
              <a:t>🤖 = specialist AI agent    ·    </a:t>
            </a:r>
            <a:r>
              <a:rPr sz="800" b="0" i="1">
                <a:solidFill>
                  <a:srgbClr val="35C759"/>
                </a:solidFill>
                <a:latin typeface="Segoe UI"/>
              </a:rPr>
              <a:t>green = straight-through (autonomous)    ·    </a:t>
            </a:r>
            <a:r>
              <a:rPr sz="800" b="0" i="1">
                <a:solidFill>
                  <a:srgbClr val="FFB020"/>
                </a:solidFill>
                <a:latin typeface="Segoe UI"/>
              </a:rPr>
              <a:t>amber = human-in-the-loop decision    ·    </a:t>
            </a:r>
            <a:r>
              <a:rPr sz="800" b="0" i="1">
                <a:solidFill>
                  <a:srgbClr val="A97BFF"/>
                </a:solidFill>
                <a:latin typeface="Segoe UI"/>
              </a:rPr>
              <a:t>dashed purple = master-data reads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