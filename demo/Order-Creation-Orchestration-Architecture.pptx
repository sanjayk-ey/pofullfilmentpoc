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01752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896112"/>
            <a:ext cx="1225296" cy="118872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896112"/>
            <a:ext cx="54864" cy="1188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2157984"/>
            <a:ext cx="1225296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CSR WORKSPACE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2157984"/>
            <a:ext cx="54864" cy="420624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2651760"/>
            <a:ext cx="1225296" cy="17007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651760"/>
            <a:ext cx="54864" cy="170078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425696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425696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486460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486460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" y="5724144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" y="5724144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82496" y="91440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raw PO → extracted → resolved → CSR-cleared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09928" y="1170432"/>
            <a:ext cx="1810512" cy="8229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09928" y="1170432"/>
            <a:ext cx="181051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1252728"/>
            <a:ext cx="16276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A9EFF"/>
                </a:solidFill>
                <a:latin typeface="Segoe UI"/>
              </a:rPr>
              <a:t>PO INTAKE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1453896"/>
            <a:ext cx="1627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• PO text / email (paste)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• Excel PO (.xlsx / .xls)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extensible: PDF · scan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9624" y="1170432"/>
            <a:ext cx="1810512" cy="8229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9624" y="1170432"/>
            <a:ext cx="181051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1063" y="1252728"/>
            <a:ext cx="16276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A9EFF"/>
                </a:solidFill>
                <a:latin typeface="Segoe UI"/>
              </a:rPr>
              <a:t>EXTRACTION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41063" y="1453896"/>
            <a:ext cx="1627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Rule-based · offline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confidence-scored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+ Excel parser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1170432"/>
            <a:ext cx="1810512" cy="8229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89320" y="1170432"/>
            <a:ext cx="1810512" cy="45720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59" y="1252728"/>
            <a:ext cx="16276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C9C9"/>
                </a:solidFill>
                <a:latin typeface="Segoe UI"/>
              </a:rPr>
              <a:t>RESOLUTION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59" y="1453896"/>
            <a:ext cx="1627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company/email → customer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account hierarchy · buyer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ship-to 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9016" y="1170432"/>
            <a:ext cx="1810512" cy="8229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29016" y="1170432"/>
            <a:ext cx="1810512" cy="457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456" y="1252728"/>
            <a:ext cx="16276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B020"/>
                </a:solidFill>
                <a:latin typeface="Segoe UI"/>
              </a:rPr>
              <a:t>INTAKE GATES  (CSR)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1453896"/>
            <a:ext cx="1627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obsolete → substitute · SKU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invalid qty · UOM convert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C2C2D0"/>
                </a:solidFill>
                <a:latin typeface="Segoe UI"/>
              </a:rPr>
              <a:t>unresolved buyer · ship-to</a:t>
            </a:r>
          </a:p>
        </p:txBody>
      </p:sp>
      <p:sp>
        <p:nvSpPr>
          <p:cNvPr id="35" name="Chevron 34"/>
          <p:cNvSpPr/>
          <p:nvPr/>
        </p:nvSpPr>
        <p:spPr>
          <a:xfrm>
            <a:off x="3538728" y="1481328"/>
            <a:ext cx="292608" cy="201168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evron 35"/>
          <p:cNvSpPr/>
          <p:nvPr/>
        </p:nvSpPr>
        <p:spPr>
          <a:xfrm>
            <a:off x="5678423" y="1481328"/>
            <a:ext cx="292608" cy="201168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7818119" y="1481328"/>
            <a:ext cx="292608" cy="201168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664208" y="2157984"/>
            <a:ext cx="8394192" cy="42062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CSR WORKSPACE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decision cards · one-click actions (Approve · Reject · Escalate · Correct · Pick · Enter) · live agent panels · audit viewer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64208" y="2651760"/>
            <a:ext cx="8394192" cy="1700784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73936" y="2697479"/>
            <a:ext cx="81747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ORCHESTRATION ENGINE  </a:t>
            </a:r>
            <a:r>
              <a:rPr sz="780" b="0" i="1">
                <a:solidFill>
                  <a:srgbClr val="C2C2D0"/>
                </a:solidFill>
                <a:latin typeface="Segoe UI"/>
              </a:rPr>
              <a:t>— resumable pipeline / state machine  ·  pauses on first exception  ·  resumes on CSR decision  ·  Approval runs LAST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73936" y="2980944"/>
            <a:ext cx="957833" cy="67665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1  Buyer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Authorization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42" name="Chevron 41"/>
          <p:cNvSpPr/>
          <p:nvPr/>
        </p:nvSpPr>
        <p:spPr>
          <a:xfrm>
            <a:off x="2704338" y="3227832"/>
            <a:ext cx="118872" cy="182880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804922" y="2980944"/>
            <a:ext cx="957833" cy="67665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2  Product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1">
                <a:solidFill>
                  <a:srgbClr val="8C8C9B"/>
                </a:solidFill>
                <a:latin typeface="Segoe UI"/>
              </a:rPr>
              <a:t>obsolete · UOM</a:t>
            </a:r>
          </a:p>
        </p:txBody>
      </p:sp>
      <p:sp>
        <p:nvSpPr>
          <p:cNvPr id="44" name="Chevron 43"/>
          <p:cNvSpPr/>
          <p:nvPr/>
        </p:nvSpPr>
        <p:spPr>
          <a:xfrm>
            <a:off x="3735324" y="3227832"/>
            <a:ext cx="118872" cy="182880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835908" y="2980944"/>
            <a:ext cx="957833" cy="67665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3  Compliance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&amp; SDS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1">
                <a:solidFill>
                  <a:srgbClr val="8C8C9B"/>
                </a:solidFill>
                <a:latin typeface="Segoe UI"/>
              </a:rPr>
              <a:t>restriction · SDS</a:t>
            </a:r>
          </a:p>
        </p:txBody>
      </p:sp>
      <p:sp>
        <p:nvSpPr>
          <p:cNvPr id="46" name="Chevron 45"/>
          <p:cNvSpPr/>
          <p:nvPr/>
        </p:nvSpPr>
        <p:spPr>
          <a:xfrm>
            <a:off x="4766309" y="3227832"/>
            <a:ext cx="118872" cy="182880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866894" y="2980944"/>
            <a:ext cx="957833" cy="67665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4  Pricing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&amp; Promo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48" name="Chevron 47"/>
          <p:cNvSpPr/>
          <p:nvPr/>
        </p:nvSpPr>
        <p:spPr>
          <a:xfrm>
            <a:off x="5797295" y="3227832"/>
            <a:ext cx="118872" cy="182880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97879" y="2980944"/>
            <a:ext cx="957833" cy="67665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5  Credit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50" name="Chevron 49"/>
          <p:cNvSpPr/>
          <p:nvPr/>
        </p:nvSpPr>
        <p:spPr>
          <a:xfrm>
            <a:off x="6828281" y="3227832"/>
            <a:ext cx="118872" cy="182880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928865" y="2980944"/>
            <a:ext cx="957833" cy="67665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6  Inventory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Checks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52" name="Chevron 51"/>
          <p:cNvSpPr/>
          <p:nvPr/>
        </p:nvSpPr>
        <p:spPr>
          <a:xfrm>
            <a:off x="7859267" y="3227832"/>
            <a:ext cx="118872" cy="182880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59852" y="2980944"/>
            <a:ext cx="957833" cy="67665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7  Shipments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1">
                <a:solidFill>
                  <a:srgbClr val="8C8C9B"/>
                </a:solidFill>
                <a:latin typeface="Segoe UI"/>
              </a:rPr>
              <a:t>serviceability · SLA</a:t>
            </a:r>
          </a:p>
        </p:txBody>
      </p:sp>
      <p:sp>
        <p:nvSpPr>
          <p:cNvPr id="54" name="Chevron 53"/>
          <p:cNvSpPr/>
          <p:nvPr/>
        </p:nvSpPr>
        <p:spPr>
          <a:xfrm>
            <a:off x="8890254" y="3227832"/>
            <a:ext cx="118872" cy="182880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990838" y="2980944"/>
            <a:ext cx="957833" cy="67665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8  Approval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1">
                <a:solidFill>
                  <a:srgbClr val="8C8C9B"/>
                </a:solidFill>
                <a:latin typeface="Segoe UI"/>
              </a:rPr>
              <a:t>budget · matrix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773936" y="3785615"/>
            <a:ext cx="4014215" cy="4572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773936" y="3785615"/>
            <a:ext cx="64008" cy="4572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20240" y="3840479"/>
            <a:ext cx="3739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5C759"/>
                </a:solidFill>
                <a:latin typeface="Segoe UI"/>
              </a:rPr>
              <a:t>✓ Straight-through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— all gates pass → autonomous → order creation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34456" y="3785615"/>
            <a:ext cx="4014215" cy="4572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934456" y="3785615"/>
            <a:ext cx="64008" cy="4572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80760" y="3840479"/>
            <a:ext cx="3739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⚠ Human-in-the-loop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— exception pauses → CSR decides → resumes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664208" y="4425696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EXCEPTION GOVERNANCE &amp; HUMAN-IN-THE-LOOP   </a:t>
            </a:r>
            <a:r>
              <a:rPr sz="78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64208" y="4425696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4882896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9928" y="5102352"/>
            <a:ext cx="196596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create sales order</a:t>
            </a:r>
          </a:p>
        </p:txBody>
      </p:sp>
      <p:sp>
        <p:nvSpPr>
          <p:cNvPr id="66" name="Chevron 65"/>
          <p:cNvSpPr/>
          <p:nvPr/>
        </p:nvSpPr>
        <p:spPr>
          <a:xfrm>
            <a:off x="3712464" y="5248656"/>
            <a:ext cx="292608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151376" y="5102352"/>
            <a:ext cx="915923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40451" y="5102352"/>
            <a:ext cx="915923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29528" y="5102352"/>
            <a:ext cx="915923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18604" y="5102352"/>
            <a:ext cx="915923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 + track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07680" y="5102352"/>
            <a:ext cx="915923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096756" y="5102352"/>
            <a:ext cx="915923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64208" y="5724144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73936" y="5779007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60" b="0" i="1">
                <a:solidFill>
                  <a:srgbClr val="C2C2D0"/>
                </a:solidFill>
                <a:latin typeface="Segoe UI"/>
              </a:rPr>
              <a:t>— read by every decision (the data process); change the data, not the code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73936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522081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70226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018372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766517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514663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62808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010954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59099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507245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55390" y="6044183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5715000" y="2066544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5715000" y="256032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5715000" y="433425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Down Arrow 88"/>
          <p:cNvSpPr/>
          <p:nvPr/>
        </p:nvSpPr>
        <p:spPr>
          <a:xfrm>
            <a:off x="5715000" y="4773168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609344" y="4352544"/>
            <a:ext cx="0" cy="1371600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10168128" y="896112"/>
            <a:ext cx="1737360" cy="475488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168128" y="896112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77855" y="1014983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277855" y="1298448"/>
            <a:ext cx="1517904" cy="79369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277855" y="1298448"/>
            <a:ext cx="45720" cy="79369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0277855" y="2183587"/>
            <a:ext cx="1517904" cy="79369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5" y="2183587"/>
            <a:ext cx="45720" cy="79369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0277855" y="3068726"/>
            <a:ext cx="1517904" cy="79369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5" y="3068726"/>
            <a:ext cx="45720" cy="79369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0277855" y="3953865"/>
            <a:ext cx="1517904" cy="79369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Confidence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scoring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277855" y="3953865"/>
            <a:ext cx="45720" cy="793699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277855" y="4839004"/>
            <a:ext cx="1517904" cy="79369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277855" y="4839004"/>
            <a:ext cx="45720" cy="79369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20040" y="6583680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E600"/>
                </a:solidFill>
                <a:latin typeface="Segoe UI"/>
              </a:rPr>
              <a:t>solid = order flow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