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3840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38404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2176272"/>
            <a:ext cx="1225296" cy="21214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AGENT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2176272"/>
            <a:ext cx="54864" cy="21214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4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Email PO      • PDF PO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(.xlsx/.xls)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Scanned PO</a:t>
            </a:r>
          </a:p>
        </p:txBody>
      </p:sp>
      <p:sp>
        <p:nvSpPr>
          <p:cNvPr id="23" name="Chevron 22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90288" y="1005840"/>
            <a:ext cx="54223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0288" y="1005840"/>
            <a:ext cx="54223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0016" y="1088136"/>
            <a:ext cx="51937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0016" y="1298448"/>
            <a:ext cx="51937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8" y="1737360"/>
            <a:ext cx="8394192" cy="38404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LAYER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decision cards · one-click actions (Approve · Reject · Escalate · Correct · Pick · Enter) · live agent panels · audit viewer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64208" y="2176272"/>
            <a:ext cx="8394192" cy="21214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2231136"/>
            <a:ext cx="8174736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 pipeline / state machine · pauses on exception, resumes on CSR decision · Approvals runs last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33288" y="2606039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73936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3936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2705481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806064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6064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3737610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838194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38194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4769739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70323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70323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5801868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02452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02452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683399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934581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34581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7866126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966709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66709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Chevron 51"/>
          <p:cNvSpPr/>
          <p:nvPr/>
        </p:nvSpPr>
        <p:spPr>
          <a:xfrm>
            <a:off x="8898255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98838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8838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77393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73936" y="3822191"/>
            <a:ext cx="64008" cy="42062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2024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5C759"/>
                </a:solidFill>
                <a:latin typeface="Segoe UI"/>
              </a:rPr>
              <a:t>✓ Straight-through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all agents pass → autonomous → order creation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3445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34456" y="3822191"/>
            <a:ext cx="64008" cy="4206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8076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B020"/>
                </a:solidFill>
                <a:latin typeface="Segoe UI"/>
              </a:rPr>
              <a:t>⚠ Human-in-the-loop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an agent raises an exception → CSR decides → resumes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664208" y="4352544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5" name="Chevron 64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315968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277612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39255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00899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62543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24187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664208" y="5614416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73936" y="5669279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77393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522081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7022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018372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66517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514663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2808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010954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759099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07245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255390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5" name="Down Arrow 84"/>
          <p:cNvSpPr/>
          <p:nvPr/>
        </p:nvSpPr>
        <p:spPr>
          <a:xfrm>
            <a:off x="57150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own Arrow 85"/>
          <p:cNvSpPr/>
          <p:nvPr/>
        </p:nvSpPr>
        <p:spPr>
          <a:xfrm>
            <a:off x="5715000" y="210312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own Arrow 86"/>
          <p:cNvSpPr/>
          <p:nvPr/>
        </p:nvSpPr>
        <p:spPr>
          <a:xfrm>
            <a:off x="5715000" y="4279392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own Arrow 87"/>
          <p:cNvSpPr/>
          <p:nvPr/>
        </p:nvSpPr>
        <p:spPr>
          <a:xfrm>
            <a:off x="57150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1609344" y="4297679"/>
            <a:ext cx="0" cy="1316737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10168128" y="749808"/>
            <a:ext cx="1737360" cy="480974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168128" y="749808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77855" y="859536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277855" y="1133856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Multi-agent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77855" y="1133856"/>
            <a:ext cx="45720" cy="80832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10277855" y="203362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277855" y="2033625"/>
            <a:ext cx="45720" cy="80832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0277855" y="293339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277855" y="2933395"/>
            <a:ext cx="45720" cy="80832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0277855" y="383316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7855" y="3833164"/>
            <a:ext cx="45720" cy="80832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277855" y="473293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Resumable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state machine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5" y="4732934"/>
            <a:ext cx="45720" cy="80832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